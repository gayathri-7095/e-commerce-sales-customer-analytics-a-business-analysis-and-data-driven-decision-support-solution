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6A5C62-233A-4D38-BF64-EBDE83037976}" v="34" dt="2026-06-16T18:33:31.8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8" d="100"/>
          <a:sy n="78"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YATHRI POLEPALLI" userId="ecdef3b242ceb4a3" providerId="LiveId" clId="{A72DEAFA-4993-422A-B843-525E7FE9BC12}"/>
    <pc:docChg chg="undo custSel modSld">
      <pc:chgData name="GAYATHRI POLEPALLI" userId="ecdef3b242ceb4a3" providerId="LiveId" clId="{A72DEAFA-4993-422A-B843-525E7FE9BC12}" dt="2026-06-16T18:33:31.878" v="609"/>
      <pc:docMkLst>
        <pc:docMk/>
      </pc:docMkLst>
      <pc:sldChg chg="modSp mod">
        <pc:chgData name="GAYATHRI POLEPALLI" userId="ecdef3b242ceb4a3" providerId="LiveId" clId="{A72DEAFA-4993-422A-B843-525E7FE9BC12}" dt="2026-06-16T18:33:31.878" v="609"/>
        <pc:sldMkLst>
          <pc:docMk/>
          <pc:sldMk cId="2760068615" sldId="256"/>
        </pc:sldMkLst>
        <pc:spChg chg="mod">
          <ac:chgData name="GAYATHRI POLEPALLI" userId="ecdef3b242ceb4a3" providerId="LiveId" clId="{A72DEAFA-4993-422A-B843-525E7FE9BC12}" dt="2026-06-16T18:31:49.776" v="579" actId="27636"/>
          <ac:spMkLst>
            <pc:docMk/>
            <pc:sldMk cId="2760068615" sldId="256"/>
            <ac:spMk id="2" creationId="{6D776D33-CE22-AB2B-6F90-99CB0A2F2EEA}"/>
          </ac:spMkLst>
        </pc:spChg>
        <pc:spChg chg="mod">
          <ac:chgData name="GAYATHRI POLEPALLI" userId="ecdef3b242ceb4a3" providerId="LiveId" clId="{A72DEAFA-4993-422A-B843-525E7FE9BC12}" dt="2026-06-16T18:33:31.878" v="609"/>
          <ac:spMkLst>
            <pc:docMk/>
            <pc:sldMk cId="2760068615" sldId="256"/>
            <ac:spMk id="3" creationId="{F1CDE479-6EE3-2FB1-1B7D-572C85991474}"/>
          </ac:spMkLst>
        </pc:spChg>
      </pc:sldChg>
      <pc:sldChg chg="modSp mod">
        <pc:chgData name="GAYATHRI POLEPALLI" userId="ecdef3b242ceb4a3" providerId="LiveId" clId="{A72DEAFA-4993-422A-B843-525E7FE9BC12}" dt="2026-06-16T17:55:03.130" v="71" actId="255"/>
        <pc:sldMkLst>
          <pc:docMk/>
          <pc:sldMk cId="698574716" sldId="257"/>
        </pc:sldMkLst>
        <pc:spChg chg="mod">
          <ac:chgData name="GAYATHRI POLEPALLI" userId="ecdef3b242ceb4a3" providerId="LiveId" clId="{A72DEAFA-4993-422A-B843-525E7FE9BC12}" dt="2026-06-16T17:55:03.130" v="71" actId="255"/>
          <ac:spMkLst>
            <pc:docMk/>
            <pc:sldMk cId="698574716" sldId="257"/>
            <ac:spMk id="3" creationId="{070522CF-CAB3-29EC-A789-1DD000E32C20}"/>
          </ac:spMkLst>
        </pc:spChg>
      </pc:sldChg>
      <pc:sldChg chg="modSp mod">
        <pc:chgData name="GAYATHRI POLEPALLI" userId="ecdef3b242ceb4a3" providerId="LiveId" clId="{A72DEAFA-4993-422A-B843-525E7FE9BC12}" dt="2026-06-16T17:51:45.651" v="51" actId="255"/>
        <pc:sldMkLst>
          <pc:docMk/>
          <pc:sldMk cId="2895045604" sldId="258"/>
        </pc:sldMkLst>
        <pc:spChg chg="mod">
          <ac:chgData name="GAYATHRI POLEPALLI" userId="ecdef3b242ceb4a3" providerId="LiveId" clId="{A72DEAFA-4993-422A-B843-525E7FE9BC12}" dt="2026-06-16T17:51:45.651" v="51" actId="255"/>
          <ac:spMkLst>
            <pc:docMk/>
            <pc:sldMk cId="2895045604" sldId="258"/>
            <ac:spMk id="3" creationId="{41FDADB5-D0C2-5C4F-2DB8-07AAD70EE7D1}"/>
          </ac:spMkLst>
        </pc:spChg>
      </pc:sldChg>
      <pc:sldChg chg="modSp mod">
        <pc:chgData name="GAYATHRI POLEPALLI" userId="ecdef3b242ceb4a3" providerId="LiveId" clId="{A72DEAFA-4993-422A-B843-525E7FE9BC12}" dt="2026-06-16T17:54:49.172" v="69" actId="255"/>
        <pc:sldMkLst>
          <pc:docMk/>
          <pc:sldMk cId="514844334" sldId="259"/>
        </pc:sldMkLst>
        <pc:spChg chg="mod">
          <ac:chgData name="GAYATHRI POLEPALLI" userId="ecdef3b242ceb4a3" providerId="LiveId" clId="{A72DEAFA-4993-422A-B843-525E7FE9BC12}" dt="2026-06-16T17:54:49.172" v="69" actId="255"/>
          <ac:spMkLst>
            <pc:docMk/>
            <pc:sldMk cId="514844334" sldId="259"/>
            <ac:spMk id="3" creationId="{C911D32B-A88A-204F-20DD-C2E46A612AEB}"/>
          </ac:spMkLst>
        </pc:spChg>
      </pc:sldChg>
      <pc:sldChg chg="modSp mod">
        <pc:chgData name="GAYATHRI POLEPALLI" userId="ecdef3b242ceb4a3" providerId="LiveId" clId="{A72DEAFA-4993-422A-B843-525E7FE9BC12}" dt="2026-06-16T17:59:02.471" v="89" actId="12"/>
        <pc:sldMkLst>
          <pc:docMk/>
          <pc:sldMk cId="386930885" sldId="260"/>
        </pc:sldMkLst>
        <pc:spChg chg="mod">
          <ac:chgData name="GAYATHRI POLEPALLI" userId="ecdef3b242ceb4a3" providerId="LiveId" clId="{A72DEAFA-4993-422A-B843-525E7FE9BC12}" dt="2026-06-16T17:59:02.471" v="89" actId="12"/>
          <ac:spMkLst>
            <pc:docMk/>
            <pc:sldMk cId="386930885" sldId="260"/>
            <ac:spMk id="3" creationId="{B42DEBDD-AC11-3415-7503-47BCA34A43C7}"/>
          </ac:spMkLst>
        </pc:spChg>
      </pc:sldChg>
      <pc:sldChg chg="modSp mod">
        <pc:chgData name="GAYATHRI POLEPALLI" userId="ecdef3b242ceb4a3" providerId="LiveId" clId="{A72DEAFA-4993-422A-B843-525E7FE9BC12}" dt="2026-06-16T18:04:49.586" v="114" actId="2711"/>
        <pc:sldMkLst>
          <pc:docMk/>
          <pc:sldMk cId="3642798105" sldId="261"/>
        </pc:sldMkLst>
        <pc:spChg chg="mod">
          <ac:chgData name="GAYATHRI POLEPALLI" userId="ecdef3b242ceb4a3" providerId="LiveId" clId="{A72DEAFA-4993-422A-B843-525E7FE9BC12}" dt="2026-06-16T18:04:49.586" v="114" actId="2711"/>
          <ac:spMkLst>
            <pc:docMk/>
            <pc:sldMk cId="3642798105" sldId="261"/>
            <ac:spMk id="3" creationId="{E210779B-A8CC-B5AF-8886-26F00B6F79CE}"/>
          </ac:spMkLst>
        </pc:spChg>
      </pc:sldChg>
      <pc:sldChg chg="modSp mod">
        <pc:chgData name="GAYATHRI POLEPALLI" userId="ecdef3b242ceb4a3" providerId="LiveId" clId="{A72DEAFA-4993-422A-B843-525E7FE9BC12}" dt="2026-06-16T18:05:22.651" v="122" actId="5793"/>
        <pc:sldMkLst>
          <pc:docMk/>
          <pc:sldMk cId="4159318257" sldId="262"/>
        </pc:sldMkLst>
        <pc:spChg chg="mod">
          <ac:chgData name="GAYATHRI POLEPALLI" userId="ecdef3b242ceb4a3" providerId="LiveId" clId="{A72DEAFA-4993-422A-B843-525E7FE9BC12}" dt="2026-06-16T18:05:22.651" v="122" actId="5793"/>
          <ac:spMkLst>
            <pc:docMk/>
            <pc:sldMk cId="4159318257" sldId="262"/>
            <ac:spMk id="3" creationId="{D2D20B68-32DA-C539-28AE-AC90A59EE846}"/>
          </ac:spMkLst>
        </pc:spChg>
      </pc:sldChg>
      <pc:sldChg chg="modSp mod">
        <pc:chgData name="GAYATHRI POLEPALLI" userId="ecdef3b242ceb4a3" providerId="LiveId" clId="{A72DEAFA-4993-422A-B843-525E7FE9BC12}" dt="2026-06-16T18:06:50.126" v="142" actId="255"/>
        <pc:sldMkLst>
          <pc:docMk/>
          <pc:sldMk cId="4174661716" sldId="263"/>
        </pc:sldMkLst>
        <pc:spChg chg="mod">
          <ac:chgData name="GAYATHRI POLEPALLI" userId="ecdef3b242ceb4a3" providerId="LiveId" clId="{A72DEAFA-4993-422A-B843-525E7FE9BC12}" dt="2026-06-16T18:06:50.126" v="142" actId="255"/>
          <ac:spMkLst>
            <pc:docMk/>
            <pc:sldMk cId="4174661716" sldId="263"/>
            <ac:spMk id="3" creationId="{5AFBBDA4-6814-07A3-73F1-81A1C244D19C}"/>
          </ac:spMkLst>
        </pc:spChg>
      </pc:sldChg>
      <pc:sldChg chg="modSp mod">
        <pc:chgData name="GAYATHRI POLEPALLI" userId="ecdef3b242ceb4a3" providerId="LiveId" clId="{A72DEAFA-4993-422A-B843-525E7FE9BC12}" dt="2026-06-16T18:09:47.244" v="176" actId="12"/>
        <pc:sldMkLst>
          <pc:docMk/>
          <pc:sldMk cId="2661879060" sldId="264"/>
        </pc:sldMkLst>
        <pc:spChg chg="mod">
          <ac:chgData name="GAYATHRI POLEPALLI" userId="ecdef3b242ceb4a3" providerId="LiveId" clId="{A72DEAFA-4993-422A-B843-525E7FE9BC12}" dt="2026-06-16T18:09:47.244" v="176" actId="12"/>
          <ac:spMkLst>
            <pc:docMk/>
            <pc:sldMk cId="2661879060" sldId="264"/>
            <ac:spMk id="3" creationId="{5FAC1524-328B-831F-A072-7DAD3F76DF2C}"/>
          </ac:spMkLst>
        </pc:spChg>
      </pc:sldChg>
      <pc:sldChg chg="modSp mod">
        <pc:chgData name="GAYATHRI POLEPALLI" userId="ecdef3b242ceb4a3" providerId="LiveId" clId="{A72DEAFA-4993-422A-B843-525E7FE9BC12}" dt="2026-06-16T18:14:29.080" v="298" actId="1076"/>
        <pc:sldMkLst>
          <pc:docMk/>
          <pc:sldMk cId="3425338514" sldId="265"/>
        </pc:sldMkLst>
        <pc:spChg chg="mod">
          <ac:chgData name="GAYATHRI POLEPALLI" userId="ecdef3b242ceb4a3" providerId="LiveId" clId="{A72DEAFA-4993-422A-B843-525E7FE9BC12}" dt="2026-06-16T18:14:29.080" v="298" actId="1076"/>
          <ac:spMkLst>
            <pc:docMk/>
            <pc:sldMk cId="3425338514" sldId="265"/>
            <ac:spMk id="3" creationId="{0CEF6549-2B07-4F13-08D4-1B2719CBE783}"/>
          </ac:spMkLst>
        </pc:spChg>
      </pc:sldChg>
      <pc:sldChg chg="modSp mod">
        <pc:chgData name="GAYATHRI POLEPALLI" userId="ecdef3b242ceb4a3" providerId="LiveId" clId="{A72DEAFA-4993-422A-B843-525E7FE9BC12}" dt="2026-06-16T18:33:31.878" v="609"/>
        <pc:sldMkLst>
          <pc:docMk/>
          <pc:sldMk cId="3553835320" sldId="266"/>
        </pc:sldMkLst>
        <pc:spChg chg="mod">
          <ac:chgData name="GAYATHRI POLEPALLI" userId="ecdef3b242ceb4a3" providerId="LiveId" clId="{A72DEAFA-4993-422A-B843-525E7FE9BC12}" dt="2026-06-16T18:33:31.878" v="609"/>
          <ac:spMkLst>
            <pc:docMk/>
            <pc:sldMk cId="3553835320" sldId="266"/>
            <ac:spMk id="2" creationId="{75C99D5B-FC5D-9749-CE3A-3798436FB1F1}"/>
          </ac:spMkLst>
        </pc:spChg>
        <pc:spChg chg="mod">
          <ac:chgData name="GAYATHRI POLEPALLI" userId="ecdef3b242ceb4a3" providerId="LiveId" clId="{A72DEAFA-4993-422A-B843-525E7FE9BC12}" dt="2026-06-16T18:16:24.288" v="322" actId="255"/>
          <ac:spMkLst>
            <pc:docMk/>
            <pc:sldMk cId="3553835320" sldId="266"/>
            <ac:spMk id="3" creationId="{60B9459C-2AC4-26DA-4BED-F0628A564743}"/>
          </ac:spMkLst>
        </pc:spChg>
      </pc:sldChg>
      <pc:sldChg chg="modSp mod">
        <pc:chgData name="GAYATHRI POLEPALLI" userId="ecdef3b242ceb4a3" providerId="LiveId" clId="{A72DEAFA-4993-422A-B843-525E7FE9BC12}" dt="2026-06-16T18:18:52.898" v="350" actId="123"/>
        <pc:sldMkLst>
          <pc:docMk/>
          <pc:sldMk cId="3427911596" sldId="267"/>
        </pc:sldMkLst>
        <pc:spChg chg="mod">
          <ac:chgData name="GAYATHRI POLEPALLI" userId="ecdef3b242ceb4a3" providerId="LiveId" clId="{A72DEAFA-4993-422A-B843-525E7FE9BC12}" dt="2026-06-16T18:18:52.898" v="350" actId="123"/>
          <ac:spMkLst>
            <pc:docMk/>
            <pc:sldMk cId="3427911596" sldId="267"/>
            <ac:spMk id="3" creationId="{709ABCC4-C84D-20F1-1D2B-47B43C14A070}"/>
          </ac:spMkLst>
        </pc:spChg>
      </pc:sldChg>
      <pc:sldChg chg="modSp mod">
        <pc:chgData name="GAYATHRI POLEPALLI" userId="ecdef3b242ceb4a3" providerId="LiveId" clId="{A72DEAFA-4993-422A-B843-525E7FE9BC12}" dt="2026-06-16T18:20:24.660" v="368" actId="255"/>
        <pc:sldMkLst>
          <pc:docMk/>
          <pc:sldMk cId="1945904397" sldId="268"/>
        </pc:sldMkLst>
        <pc:spChg chg="mod">
          <ac:chgData name="GAYATHRI POLEPALLI" userId="ecdef3b242ceb4a3" providerId="LiveId" clId="{A72DEAFA-4993-422A-B843-525E7FE9BC12}" dt="2026-06-16T18:20:24.660" v="368" actId="255"/>
          <ac:spMkLst>
            <pc:docMk/>
            <pc:sldMk cId="1945904397" sldId="268"/>
            <ac:spMk id="3" creationId="{65F4A612-EC35-5ECB-E050-BD85357270B5}"/>
          </ac:spMkLst>
        </pc:spChg>
      </pc:sldChg>
      <pc:sldChg chg="modSp mod">
        <pc:chgData name="GAYATHRI POLEPALLI" userId="ecdef3b242ceb4a3" providerId="LiveId" clId="{A72DEAFA-4993-422A-B843-525E7FE9BC12}" dt="2026-06-16T18:22:17.745" v="385" actId="123"/>
        <pc:sldMkLst>
          <pc:docMk/>
          <pc:sldMk cId="2991992883" sldId="269"/>
        </pc:sldMkLst>
        <pc:spChg chg="mod">
          <ac:chgData name="GAYATHRI POLEPALLI" userId="ecdef3b242ceb4a3" providerId="LiveId" clId="{A72DEAFA-4993-422A-B843-525E7FE9BC12}" dt="2026-06-16T18:22:17.745" v="385" actId="123"/>
          <ac:spMkLst>
            <pc:docMk/>
            <pc:sldMk cId="2991992883" sldId="269"/>
            <ac:spMk id="3" creationId="{692102CF-B562-5CCF-0DAF-6A35EDBD21DB}"/>
          </ac:spMkLst>
        </pc:spChg>
      </pc:sldChg>
      <pc:sldChg chg="modSp mod">
        <pc:chgData name="GAYATHRI POLEPALLI" userId="ecdef3b242ceb4a3" providerId="LiveId" clId="{A72DEAFA-4993-422A-B843-525E7FE9BC12}" dt="2026-06-16T18:25:09.789" v="412" actId="2710"/>
        <pc:sldMkLst>
          <pc:docMk/>
          <pc:sldMk cId="3538355921" sldId="270"/>
        </pc:sldMkLst>
        <pc:spChg chg="mod">
          <ac:chgData name="GAYATHRI POLEPALLI" userId="ecdef3b242ceb4a3" providerId="LiveId" clId="{A72DEAFA-4993-422A-B843-525E7FE9BC12}" dt="2026-06-16T18:25:09.789" v="412" actId="2710"/>
          <ac:spMkLst>
            <pc:docMk/>
            <pc:sldMk cId="3538355921" sldId="270"/>
            <ac:spMk id="3" creationId="{F4C18ABC-EC19-FD4D-F93B-06E90371348F}"/>
          </ac:spMkLst>
        </pc:spChg>
      </pc:sldChg>
      <pc:sldChg chg="modSp mod">
        <pc:chgData name="GAYATHRI POLEPALLI" userId="ecdef3b242ceb4a3" providerId="LiveId" clId="{A72DEAFA-4993-422A-B843-525E7FE9BC12}" dt="2026-06-16T18:25:54.875" v="424" actId="123"/>
        <pc:sldMkLst>
          <pc:docMk/>
          <pc:sldMk cId="1578150410" sldId="271"/>
        </pc:sldMkLst>
        <pc:spChg chg="mod">
          <ac:chgData name="GAYATHRI POLEPALLI" userId="ecdef3b242ceb4a3" providerId="LiveId" clId="{A72DEAFA-4993-422A-B843-525E7FE9BC12}" dt="2026-06-16T18:25:54.875" v="424" actId="123"/>
          <ac:spMkLst>
            <pc:docMk/>
            <pc:sldMk cId="1578150410" sldId="271"/>
            <ac:spMk id="3" creationId="{74F666D0-8104-F27D-ABB3-6E721EB10622}"/>
          </ac:spMkLst>
        </pc:spChg>
      </pc:sldChg>
      <pc:sldChg chg="modSp mod">
        <pc:chgData name="GAYATHRI POLEPALLI" userId="ecdef3b242ceb4a3" providerId="LiveId" clId="{A72DEAFA-4993-422A-B843-525E7FE9BC12}" dt="2026-06-16T18:27:32.703" v="485" actId="5793"/>
        <pc:sldMkLst>
          <pc:docMk/>
          <pc:sldMk cId="886815809" sldId="272"/>
        </pc:sldMkLst>
        <pc:spChg chg="mod">
          <ac:chgData name="GAYATHRI POLEPALLI" userId="ecdef3b242ceb4a3" providerId="LiveId" clId="{A72DEAFA-4993-422A-B843-525E7FE9BC12}" dt="2026-06-16T18:27:32.703" v="485" actId="5793"/>
          <ac:spMkLst>
            <pc:docMk/>
            <pc:sldMk cId="886815809" sldId="272"/>
            <ac:spMk id="3" creationId="{5D61AD09-7F56-D1C9-1915-410566697124}"/>
          </ac:spMkLst>
        </pc:spChg>
      </pc:sldChg>
      <pc:sldChg chg="modSp mod">
        <pc:chgData name="GAYATHRI POLEPALLI" userId="ecdef3b242ceb4a3" providerId="LiveId" clId="{A72DEAFA-4993-422A-B843-525E7FE9BC12}" dt="2026-06-16T18:28:56.951" v="541" actId="27636"/>
        <pc:sldMkLst>
          <pc:docMk/>
          <pc:sldMk cId="2244574082" sldId="273"/>
        </pc:sldMkLst>
        <pc:spChg chg="mod">
          <ac:chgData name="GAYATHRI POLEPALLI" userId="ecdef3b242ceb4a3" providerId="LiveId" clId="{A72DEAFA-4993-422A-B843-525E7FE9BC12}" dt="2026-06-16T18:28:56.951" v="541" actId="27636"/>
          <ac:spMkLst>
            <pc:docMk/>
            <pc:sldMk cId="2244574082" sldId="273"/>
            <ac:spMk id="3" creationId="{7B838DBC-33F5-2726-8C8F-E2243E73CB5D}"/>
          </ac:spMkLst>
        </pc:spChg>
      </pc:sldChg>
      <pc:sldChg chg="modSp mod">
        <pc:chgData name="GAYATHRI POLEPALLI" userId="ecdef3b242ceb4a3" providerId="LiveId" clId="{A72DEAFA-4993-422A-B843-525E7FE9BC12}" dt="2026-06-16T18:29:47.567" v="557" actId="27636"/>
        <pc:sldMkLst>
          <pc:docMk/>
          <pc:sldMk cId="1413265563" sldId="274"/>
        </pc:sldMkLst>
        <pc:spChg chg="mod">
          <ac:chgData name="GAYATHRI POLEPALLI" userId="ecdef3b242ceb4a3" providerId="LiveId" clId="{A72DEAFA-4993-422A-B843-525E7FE9BC12}" dt="2026-06-16T18:29:47.567" v="557" actId="27636"/>
          <ac:spMkLst>
            <pc:docMk/>
            <pc:sldMk cId="1413265563" sldId="274"/>
            <ac:spMk id="3" creationId="{157E7CA0-C584-79A5-40B5-E658E3B3A58B}"/>
          </ac:spMkLst>
        </pc:spChg>
      </pc:sldChg>
      <pc:sldChg chg="modSp mod">
        <pc:chgData name="GAYATHRI POLEPALLI" userId="ecdef3b242ceb4a3" providerId="LiveId" clId="{A72DEAFA-4993-422A-B843-525E7FE9BC12}" dt="2026-06-16T18:30:41.284" v="571" actId="27636"/>
        <pc:sldMkLst>
          <pc:docMk/>
          <pc:sldMk cId="3488783086" sldId="275"/>
        </pc:sldMkLst>
        <pc:spChg chg="mod">
          <ac:chgData name="GAYATHRI POLEPALLI" userId="ecdef3b242ceb4a3" providerId="LiveId" clId="{A72DEAFA-4993-422A-B843-525E7FE9BC12}" dt="2026-06-16T18:30:41.284" v="571" actId="27636"/>
          <ac:spMkLst>
            <pc:docMk/>
            <pc:sldMk cId="3488783086" sldId="275"/>
            <ac:spMk id="3" creationId="{49C87E6D-5EBC-26B4-ECC3-323FF5E6C9EA}"/>
          </ac:spMkLst>
        </pc:spChg>
      </pc:sldChg>
      <pc:sldChg chg="modSp mod">
        <pc:chgData name="GAYATHRI POLEPALLI" userId="ecdef3b242ceb4a3" providerId="LiveId" clId="{A72DEAFA-4993-422A-B843-525E7FE9BC12}" dt="2026-06-16T18:31:14.298" v="576" actId="1076"/>
        <pc:sldMkLst>
          <pc:docMk/>
          <pc:sldMk cId="3262755914" sldId="276"/>
        </pc:sldMkLst>
        <pc:spChg chg="mod">
          <ac:chgData name="GAYATHRI POLEPALLI" userId="ecdef3b242ceb4a3" providerId="LiveId" clId="{A72DEAFA-4993-422A-B843-525E7FE9BC12}" dt="2026-06-16T18:31:14.298" v="576" actId="1076"/>
          <ac:spMkLst>
            <pc:docMk/>
            <pc:sldMk cId="3262755914" sldId="276"/>
            <ac:spMk id="3" creationId="{01562CD7-69C9-63B9-8A78-BC91470C889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D044C0-11F4-49DE-A61D-2C16499B4EC0}" type="datetimeFigureOut">
              <a:rPr lang="en-IN" smtClean="0"/>
              <a:t>16-06-2026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09BF7-CB59-406C-AB8E-1014EF0C46AB}" type="slidenum">
              <a:rPr lang="en-IN" smtClean="0"/>
              <a:t>‹#›</a:t>
            </a:fld>
            <a:endParaRPr lang="en-IN"/>
          </a:p>
        </p:txBody>
      </p:sp>
    </p:spTree>
    <p:extLst>
      <p:ext uri="{BB962C8B-B14F-4D97-AF65-F5344CB8AC3E}">
        <p14:creationId xmlns:p14="http://schemas.microsoft.com/office/powerpoint/2010/main" val="2170048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FB09BF7-CB59-406C-AB8E-1014EF0C46AB}" type="slidenum">
              <a:rPr lang="en-IN" smtClean="0"/>
              <a:t>10</a:t>
            </a:fld>
            <a:endParaRPr lang="en-IN"/>
          </a:p>
        </p:txBody>
      </p:sp>
    </p:spTree>
    <p:extLst>
      <p:ext uri="{BB962C8B-B14F-4D97-AF65-F5344CB8AC3E}">
        <p14:creationId xmlns:p14="http://schemas.microsoft.com/office/powerpoint/2010/main" val="422768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9D3C93-DA23-48A5-8FD4-9CFFC0FB0685}"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2695978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9D3C93-DA23-48A5-8FD4-9CFFC0FB0685}"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1265963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9D3C93-DA23-48A5-8FD4-9CFFC0FB0685}"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3555952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9D3C93-DA23-48A5-8FD4-9CFFC0FB0685}"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3697768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9D3C93-DA23-48A5-8FD4-9CFFC0FB0685}" type="datetimeFigureOut">
              <a:rPr lang="en-IN" smtClean="0"/>
              <a:t>16-06-2026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1089645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9D3C93-DA23-48A5-8FD4-9CFFC0FB0685}" type="datetimeFigureOut">
              <a:rPr lang="en-IN" smtClean="0"/>
              <a:t>16-06-2026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3125800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9D3C93-DA23-48A5-8FD4-9CFFC0FB0685}" type="datetimeFigureOut">
              <a:rPr lang="en-IN" smtClean="0"/>
              <a:t>16-06-2026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1398004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9D3C93-DA23-48A5-8FD4-9CFFC0FB0685}"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2095616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9D3C93-DA23-48A5-8FD4-9CFFC0FB0685}"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2419615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9D3C93-DA23-48A5-8FD4-9CFFC0FB0685}"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2457469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9D3C93-DA23-48A5-8FD4-9CFFC0FB0685}"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13926857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9D3C93-DA23-48A5-8FD4-9CFFC0FB0685}"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782F84-81CC-43B2-8F2F-6AF6AA386EC2}"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38994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9D3C93-DA23-48A5-8FD4-9CFFC0FB0685}"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1665646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D9D3C93-DA23-48A5-8FD4-9CFFC0FB0685}" type="datetimeFigureOut">
              <a:rPr lang="en-IN" smtClean="0"/>
              <a:t>16-06-2026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2119064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D9D3C93-DA23-48A5-8FD4-9CFFC0FB0685}" type="datetimeFigureOut">
              <a:rPr lang="en-IN" smtClean="0"/>
              <a:t>16-06-2026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1682299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9D3C93-DA23-48A5-8FD4-9CFFC0FB0685}"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5722765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9D3C93-DA23-48A5-8FD4-9CFFC0FB0685}"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782F84-81CC-43B2-8F2F-6AF6AA386EC2}" type="slidenum">
              <a:rPr lang="en-IN" smtClean="0"/>
              <a:t>‹#›</a:t>
            </a:fld>
            <a:endParaRPr lang="en-IN"/>
          </a:p>
        </p:txBody>
      </p:sp>
    </p:spTree>
    <p:extLst>
      <p:ext uri="{BB962C8B-B14F-4D97-AF65-F5344CB8AC3E}">
        <p14:creationId xmlns:p14="http://schemas.microsoft.com/office/powerpoint/2010/main" val="1691642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D9D3C93-DA23-48A5-8FD4-9CFFC0FB0685}" type="datetimeFigureOut">
              <a:rPr lang="en-IN" smtClean="0"/>
              <a:t>16-06-2026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0782F84-81CC-43B2-8F2F-6AF6AA386EC2}" type="slidenum">
              <a:rPr lang="en-IN" smtClean="0"/>
              <a:t>‹#›</a:t>
            </a:fld>
            <a:endParaRPr lang="en-IN"/>
          </a:p>
        </p:txBody>
      </p:sp>
    </p:spTree>
    <p:extLst>
      <p:ext uri="{BB962C8B-B14F-4D97-AF65-F5344CB8AC3E}">
        <p14:creationId xmlns:p14="http://schemas.microsoft.com/office/powerpoint/2010/main" val="77933359"/>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76D33-CE22-AB2B-6F90-99CB0A2F2EEA}"/>
              </a:ext>
            </a:extLst>
          </p:cNvPr>
          <p:cNvSpPr>
            <a:spLocks noGrp="1"/>
          </p:cNvSpPr>
          <p:nvPr>
            <p:ph type="ctrTitle"/>
          </p:nvPr>
        </p:nvSpPr>
        <p:spPr>
          <a:xfrm>
            <a:off x="1524000" y="600891"/>
            <a:ext cx="9144000" cy="870858"/>
          </a:xfrm>
        </p:spPr>
        <p:txBody>
          <a:bodyPr>
            <a:normAutofit/>
          </a:bodyPr>
          <a:lstStyle/>
          <a:p>
            <a:r>
              <a:rPr lang="en-IN" sz="2000" dirty="0"/>
              <a:t>E-Commerce Sales &amp; Customer Analytics: A Business Analysis and Data-Driven Decision Support Solution</a:t>
            </a:r>
          </a:p>
        </p:txBody>
      </p:sp>
      <p:sp>
        <p:nvSpPr>
          <p:cNvPr id="3" name="Subtitle 2">
            <a:extLst>
              <a:ext uri="{FF2B5EF4-FFF2-40B4-BE49-F238E27FC236}">
                <a16:creationId xmlns:a16="http://schemas.microsoft.com/office/drawing/2014/main" id="{F1CDE479-6EE3-2FB1-1B7D-572C85991474}"/>
              </a:ext>
            </a:extLst>
          </p:cNvPr>
          <p:cNvSpPr>
            <a:spLocks noGrp="1"/>
          </p:cNvSpPr>
          <p:nvPr>
            <p:ph type="subTitle" idx="1"/>
          </p:nvPr>
        </p:nvSpPr>
        <p:spPr/>
        <p:txBody>
          <a:bodyPr>
            <a:normAutofit/>
          </a:bodyPr>
          <a:lstStyle/>
          <a:p>
            <a:r>
              <a:rPr lang="en-IN" dirty="0"/>
              <a:t>    </a:t>
            </a:r>
          </a:p>
          <a:p>
            <a:r>
              <a:rPr lang="en-IN" b="1" dirty="0"/>
              <a:t>                                                                                    </a:t>
            </a:r>
            <a:r>
              <a:rPr lang="en-IN" b="1" dirty="0">
                <a:latin typeface="Calibri" panose="020F0502020204030204" pitchFamily="34" charset="0"/>
                <a:ea typeface="Calibri" panose="020F0502020204030204" pitchFamily="34" charset="0"/>
                <a:cs typeface="Calibri" panose="020F0502020204030204" pitchFamily="34" charset="0"/>
              </a:rPr>
              <a:t>Presented By:</a:t>
            </a:r>
          </a:p>
          <a:p>
            <a:r>
              <a:rPr lang="en-IN" dirty="0">
                <a:latin typeface="Calibri" panose="020F0502020204030204" pitchFamily="34" charset="0"/>
                <a:ea typeface="Calibri" panose="020F0502020204030204" pitchFamily="34" charset="0"/>
                <a:cs typeface="Calibri" panose="020F0502020204030204" pitchFamily="34" charset="0"/>
              </a:rPr>
              <a:t>                                                                                             </a:t>
            </a:r>
            <a:r>
              <a:rPr lang="en-IN" dirty="0" err="1">
                <a:latin typeface="Calibri" panose="020F0502020204030204" pitchFamily="34" charset="0"/>
                <a:ea typeface="Calibri" panose="020F0502020204030204" pitchFamily="34" charset="0"/>
                <a:cs typeface="Calibri" panose="020F0502020204030204" pitchFamily="34" charset="0"/>
              </a:rPr>
              <a:t>Polepalli</a:t>
            </a:r>
            <a:r>
              <a:rPr lang="en-IN" dirty="0">
                <a:latin typeface="Calibri" panose="020F0502020204030204" pitchFamily="34" charset="0"/>
                <a:ea typeface="Calibri" panose="020F0502020204030204" pitchFamily="34" charset="0"/>
                <a:cs typeface="Calibri" panose="020F0502020204030204" pitchFamily="34" charset="0"/>
              </a:rPr>
              <a:t> Gayathri</a:t>
            </a:r>
          </a:p>
        </p:txBody>
      </p:sp>
    </p:spTree>
    <p:extLst>
      <p:ext uri="{BB962C8B-B14F-4D97-AF65-F5344CB8AC3E}">
        <p14:creationId xmlns:p14="http://schemas.microsoft.com/office/powerpoint/2010/main" val="2760068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1B61-7369-5E73-9499-A1240E07A9E0}"/>
              </a:ext>
            </a:extLst>
          </p:cNvPr>
          <p:cNvSpPr>
            <a:spLocks noGrp="1"/>
          </p:cNvSpPr>
          <p:nvPr>
            <p:ph type="ctrTitle"/>
          </p:nvPr>
        </p:nvSpPr>
        <p:spPr>
          <a:xfrm>
            <a:off x="357051" y="87086"/>
            <a:ext cx="11147561" cy="653143"/>
          </a:xfrm>
        </p:spPr>
        <p:txBody>
          <a:bodyPr>
            <a:norm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Introduction</a:t>
            </a:r>
          </a:p>
        </p:txBody>
      </p:sp>
      <p:sp>
        <p:nvSpPr>
          <p:cNvPr id="3" name="Subtitle 2">
            <a:extLst>
              <a:ext uri="{FF2B5EF4-FFF2-40B4-BE49-F238E27FC236}">
                <a16:creationId xmlns:a16="http://schemas.microsoft.com/office/drawing/2014/main" id="{070522CF-CAB3-29EC-A789-1DD000E32C20}"/>
              </a:ext>
            </a:extLst>
          </p:cNvPr>
          <p:cNvSpPr>
            <a:spLocks noGrp="1"/>
          </p:cNvSpPr>
          <p:nvPr>
            <p:ph type="subTitle" idx="1"/>
          </p:nvPr>
        </p:nvSpPr>
        <p:spPr>
          <a:xfrm>
            <a:off x="174171" y="841359"/>
            <a:ext cx="11843657" cy="5687259"/>
          </a:xfrm>
        </p:spPr>
        <p:txBody>
          <a:bodyPr>
            <a:normAutofit fontScale="92500"/>
          </a:bodyPr>
          <a:lstStyle/>
          <a:p>
            <a:r>
              <a:rPr lang="en-IN" b="1" dirty="0"/>
              <a:t>Project Overview</a:t>
            </a:r>
          </a:p>
          <a:p>
            <a:pPr algn="just"/>
            <a:r>
              <a:rPr lang="en-IN" sz="2100" dirty="0"/>
              <a:t>E-commerce businesses generate large amounts of sales and customer transaction data every day. However, </a:t>
            </a:r>
            <a:r>
              <a:rPr lang="en-IN" sz="2100" dirty="0" err="1"/>
              <a:t>analyzing</a:t>
            </a:r>
            <a:r>
              <a:rPr lang="en-IN" sz="2100" dirty="0"/>
              <a:t> this data manually can be time-consuming and inefficient. This project focuses on </a:t>
            </a:r>
            <a:r>
              <a:rPr lang="en-IN" sz="2100" dirty="0" err="1"/>
              <a:t>analyzing</a:t>
            </a:r>
            <a:r>
              <a:rPr lang="en-IN" sz="2100" dirty="0"/>
              <a:t> sales performance, customer </a:t>
            </a:r>
            <a:r>
              <a:rPr lang="en-IN" sz="2100" dirty="0" err="1"/>
              <a:t>behavior</a:t>
            </a:r>
            <a:r>
              <a:rPr lang="en-IN" sz="2100" dirty="0"/>
              <a:t>, and product profitability to support data-driven decision-making.</a:t>
            </a:r>
          </a:p>
          <a:p>
            <a:pPr algn="just"/>
            <a:r>
              <a:rPr lang="en-IN" sz="2100" dirty="0"/>
              <a:t>The project uses Business Analysis methodologies and data analytics techniques to identify key business insights, improve reporting, and provide actionable recommendations through interactive dashboards.</a:t>
            </a:r>
          </a:p>
          <a:p>
            <a:r>
              <a:rPr lang="en-IN" sz="2200" b="1" dirty="0"/>
              <a:t>Technologies Used</a:t>
            </a:r>
          </a:p>
          <a:p>
            <a:pPr marL="342900" indent="-342900" algn="l">
              <a:buFont typeface="Arial" panose="020B0604020202020204" pitchFamily="34" charset="0"/>
              <a:buChar char="•"/>
            </a:pPr>
            <a:r>
              <a:rPr lang="en-IN" sz="2100" b="1" dirty="0"/>
              <a:t>Python</a:t>
            </a:r>
            <a:r>
              <a:rPr lang="en-IN" sz="2100" dirty="0"/>
              <a:t> – Data Cleaning, Preprocessing, and EDA </a:t>
            </a:r>
          </a:p>
          <a:p>
            <a:pPr marL="342900" indent="-342900" algn="l">
              <a:buFont typeface="Arial" panose="020B0604020202020204" pitchFamily="34" charset="0"/>
              <a:buChar char="•"/>
            </a:pPr>
            <a:r>
              <a:rPr lang="en-IN" sz="2100" b="1" dirty="0"/>
              <a:t>MySQL</a:t>
            </a:r>
            <a:r>
              <a:rPr lang="en-IN" sz="2100" dirty="0"/>
              <a:t> – Data Storage and Business Queries </a:t>
            </a:r>
          </a:p>
          <a:p>
            <a:pPr marL="342900" indent="-342900" algn="l">
              <a:buFont typeface="Arial" panose="020B0604020202020204" pitchFamily="34" charset="0"/>
              <a:buChar char="•"/>
            </a:pPr>
            <a:r>
              <a:rPr lang="en-IN" sz="2100" b="1" dirty="0"/>
              <a:t>Power BI</a:t>
            </a:r>
            <a:r>
              <a:rPr lang="en-IN" sz="2100" dirty="0"/>
              <a:t> – Dashboard Development and Visualization </a:t>
            </a:r>
          </a:p>
          <a:p>
            <a:pPr marL="342900" indent="-342900" algn="l">
              <a:buFont typeface="Arial" panose="020B0604020202020204" pitchFamily="34" charset="0"/>
              <a:buChar char="•"/>
            </a:pPr>
            <a:r>
              <a:rPr lang="en-IN" sz="2100" b="1" dirty="0"/>
              <a:t>Business Analysis Documentation</a:t>
            </a:r>
            <a:r>
              <a:rPr lang="en-IN" sz="2100" dirty="0"/>
              <a:t> – BRD, FRD, Stakeholder Matrix, User Stories, Gap Analysis, RTM, UAT, and Process Analysis</a:t>
            </a:r>
          </a:p>
        </p:txBody>
      </p:sp>
    </p:spTree>
    <p:extLst>
      <p:ext uri="{BB962C8B-B14F-4D97-AF65-F5344CB8AC3E}">
        <p14:creationId xmlns:p14="http://schemas.microsoft.com/office/powerpoint/2010/main" val="698574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2EB1F-DE49-DABB-1F1A-1A090988D1D6}"/>
              </a:ext>
            </a:extLst>
          </p:cNvPr>
          <p:cNvSpPr>
            <a:spLocks noGrp="1"/>
          </p:cNvSpPr>
          <p:nvPr>
            <p:ph type="ctrTitle"/>
          </p:nvPr>
        </p:nvSpPr>
        <p:spPr>
          <a:xfrm>
            <a:off x="95794" y="1"/>
            <a:ext cx="10500937" cy="705394"/>
          </a:xfrm>
        </p:spPr>
        <p:txBody>
          <a:bodyPr>
            <a:norm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Business Problem</a:t>
            </a:r>
          </a:p>
        </p:txBody>
      </p:sp>
      <p:sp>
        <p:nvSpPr>
          <p:cNvPr id="3" name="Subtitle 2">
            <a:extLst>
              <a:ext uri="{FF2B5EF4-FFF2-40B4-BE49-F238E27FC236}">
                <a16:creationId xmlns:a16="http://schemas.microsoft.com/office/drawing/2014/main" id="{41FDADB5-D0C2-5C4F-2DB8-07AAD70EE7D1}"/>
              </a:ext>
            </a:extLst>
          </p:cNvPr>
          <p:cNvSpPr>
            <a:spLocks noGrp="1"/>
          </p:cNvSpPr>
          <p:nvPr>
            <p:ph type="subTitle" idx="1"/>
          </p:nvPr>
        </p:nvSpPr>
        <p:spPr>
          <a:xfrm>
            <a:off x="178526" y="705395"/>
            <a:ext cx="11834948" cy="6029702"/>
          </a:xfrm>
        </p:spPr>
        <p:txBody>
          <a:bodyPr>
            <a:normAutofit fontScale="85000" lnSpcReduction="20000"/>
          </a:bodyPr>
          <a:lstStyle/>
          <a:p>
            <a:pPr algn="l"/>
            <a:r>
              <a:rPr lang="en-IN" b="1" dirty="0"/>
              <a:t>Understanding the Problem</a:t>
            </a:r>
          </a:p>
          <a:p>
            <a:pPr algn="just"/>
            <a:r>
              <a:rPr lang="en-IN" sz="2200" dirty="0"/>
              <a:t>E-commerce companies generate large volumes of sales and customer data; however, valuable business insights often remain hidden due to manual reporting and fragmented data analysis processes. Stakeholders face challenges in monitoring sales performance, understanding customer </a:t>
            </a:r>
            <a:r>
              <a:rPr lang="en-IN" sz="2200" dirty="0" err="1"/>
              <a:t>behavior</a:t>
            </a:r>
            <a:r>
              <a:rPr lang="en-IN" sz="2200" dirty="0"/>
              <a:t>, and identifying profitable products.</a:t>
            </a:r>
          </a:p>
          <a:p>
            <a:pPr algn="just"/>
            <a:r>
              <a:rPr lang="en-IN" sz="2200" dirty="0"/>
              <a:t>The existing process relied heavily on spreadsheets and manual reporting, making it difficult to make timely and data-driven business decisions.</a:t>
            </a:r>
          </a:p>
          <a:p>
            <a:pPr algn="l"/>
            <a:r>
              <a:rPr lang="en-IN" sz="2600" b="1" dirty="0">
                <a:latin typeface="Calibri" panose="020F0502020204030204" pitchFamily="34" charset="0"/>
                <a:ea typeface="Calibri" panose="020F0502020204030204" pitchFamily="34" charset="0"/>
                <a:cs typeface="Calibri" panose="020F0502020204030204" pitchFamily="34" charset="0"/>
              </a:rPr>
              <a:t>Problems Identified</a:t>
            </a:r>
          </a:p>
          <a:p>
            <a:pPr marL="342900" indent="-342900" algn="just">
              <a:buFont typeface="Arial" panose="020B0604020202020204" pitchFamily="34" charset="0"/>
              <a:buChar char="•"/>
            </a:pPr>
            <a:r>
              <a:rPr lang="en-IN" sz="2100" dirty="0"/>
              <a:t>No centralized sales and customer analytics system</a:t>
            </a:r>
          </a:p>
          <a:p>
            <a:pPr marL="342900" indent="-342900" algn="just">
              <a:buFont typeface="Arial" panose="020B0604020202020204" pitchFamily="34" charset="0"/>
              <a:buChar char="•"/>
            </a:pPr>
            <a:r>
              <a:rPr lang="en-IN" sz="2100" dirty="0"/>
              <a:t> Limited visibility into customer purchasing </a:t>
            </a:r>
            <a:r>
              <a:rPr lang="en-IN" sz="2100" dirty="0" err="1"/>
              <a:t>behavior</a:t>
            </a:r>
            <a:r>
              <a:rPr lang="en-IN" sz="2100" dirty="0"/>
              <a:t> </a:t>
            </a:r>
          </a:p>
          <a:p>
            <a:pPr marL="342900" indent="-342900" algn="just">
              <a:buFont typeface="Arial" panose="020B0604020202020204" pitchFamily="34" charset="0"/>
              <a:buChar char="•"/>
            </a:pPr>
            <a:r>
              <a:rPr lang="en-IN" sz="2100" dirty="0"/>
              <a:t>Difficulty identifying high-value customers </a:t>
            </a:r>
          </a:p>
          <a:p>
            <a:pPr marL="342900" indent="-342900" algn="just">
              <a:buFont typeface="Arial" panose="020B0604020202020204" pitchFamily="34" charset="0"/>
              <a:buChar char="•"/>
            </a:pPr>
            <a:r>
              <a:rPr lang="en-IN" sz="2100" dirty="0"/>
              <a:t>Lack of product performance monitoring </a:t>
            </a:r>
          </a:p>
          <a:p>
            <a:pPr marL="342900" indent="-342900" algn="just">
              <a:buFont typeface="Arial" panose="020B0604020202020204" pitchFamily="34" charset="0"/>
              <a:buChar char="•"/>
            </a:pPr>
            <a:r>
              <a:rPr lang="en-IN" sz="2100" dirty="0"/>
              <a:t>Revenue trends not easily accessible </a:t>
            </a:r>
          </a:p>
          <a:p>
            <a:pPr marL="342900" indent="-342900" algn="just">
              <a:buFont typeface="Arial" panose="020B0604020202020204" pitchFamily="34" charset="0"/>
              <a:buChar char="•"/>
            </a:pPr>
            <a:r>
              <a:rPr lang="en-IN" sz="2100" dirty="0"/>
              <a:t>Country-wise sales performance not effectively tracked </a:t>
            </a:r>
          </a:p>
          <a:p>
            <a:pPr marL="342900" indent="-342900" algn="just">
              <a:buFont typeface="Arial" panose="020B0604020202020204" pitchFamily="34" charset="0"/>
              <a:buChar char="•"/>
            </a:pPr>
            <a:r>
              <a:rPr lang="en-IN" sz="2100" dirty="0"/>
              <a:t>Manual reporting processes causing delays Decision-making based on static reports rather than real-time insights</a:t>
            </a:r>
          </a:p>
        </p:txBody>
      </p:sp>
    </p:spTree>
    <p:extLst>
      <p:ext uri="{BB962C8B-B14F-4D97-AF65-F5344CB8AC3E}">
        <p14:creationId xmlns:p14="http://schemas.microsoft.com/office/powerpoint/2010/main" val="2895045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94F32-7131-A18A-D9A4-F77F2691C890}"/>
              </a:ext>
            </a:extLst>
          </p:cNvPr>
          <p:cNvSpPr>
            <a:spLocks noGrp="1"/>
          </p:cNvSpPr>
          <p:nvPr>
            <p:ph type="ctrTitle"/>
          </p:nvPr>
        </p:nvSpPr>
        <p:spPr>
          <a:xfrm>
            <a:off x="69669" y="69669"/>
            <a:ext cx="11956868" cy="836022"/>
          </a:xfrm>
        </p:spPr>
        <p:txBody>
          <a:bodyPr>
            <a:norm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Objectives</a:t>
            </a:r>
          </a:p>
        </p:txBody>
      </p:sp>
      <p:sp>
        <p:nvSpPr>
          <p:cNvPr id="3" name="Subtitle 2">
            <a:extLst>
              <a:ext uri="{FF2B5EF4-FFF2-40B4-BE49-F238E27FC236}">
                <a16:creationId xmlns:a16="http://schemas.microsoft.com/office/drawing/2014/main" id="{C911D32B-A88A-204F-20DD-C2E46A612AEB}"/>
              </a:ext>
            </a:extLst>
          </p:cNvPr>
          <p:cNvSpPr>
            <a:spLocks noGrp="1"/>
          </p:cNvSpPr>
          <p:nvPr>
            <p:ph type="subTitle" idx="1"/>
          </p:nvPr>
        </p:nvSpPr>
        <p:spPr>
          <a:xfrm>
            <a:off x="139337" y="992776"/>
            <a:ext cx="12122331" cy="5699760"/>
          </a:xfrm>
        </p:spPr>
        <p:txBody>
          <a:bodyPr>
            <a:normAutofit fontScale="92500" lnSpcReduction="10000"/>
          </a:bodyPr>
          <a:lstStyle/>
          <a:p>
            <a:pPr algn="l"/>
            <a:r>
              <a:rPr lang="en-IN" b="1" dirty="0"/>
              <a:t>Project Objectives</a:t>
            </a:r>
          </a:p>
          <a:p>
            <a:pPr algn="l"/>
            <a:r>
              <a:rPr lang="en-IN" sz="2100" dirty="0"/>
              <a:t>The primary objective of this project is to </a:t>
            </a:r>
            <a:r>
              <a:rPr lang="en-IN" sz="2100" dirty="0" err="1"/>
              <a:t>analyze</a:t>
            </a:r>
            <a:r>
              <a:rPr lang="en-IN" sz="2100" dirty="0"/>
              <a:t> e-commerce sales data and generate actionable business insights to improve sales performance, customer engagement, and product profitability through data-driven decision-making.</a:t>
            </a:r>
          </a:p>
          <a:p>
            <a:pPr algn="l"/>
            <a:r>
              <a:rPr lang="en-IN" sz="2200" b="1" dirty="0">
                <a:latin typeface="Calibri" panose="020F0502020204030204" pitchFamily="34" charset="0"/>
                <a:ea typeface="Calibri" panose="020F0502020204030204" pitchFamily="34" charset="0"/>
                <a:cs typeface="Calibri" panose="020F0502020204030204" pitchFamily="34" charset="0"/>
              </a:rPr>
              <a:t>Specific Objectives</a:t>
            </a:r>
          </a:p>
          <a:p>
            <a:pPr marL="342900" indent="-342900" algn="l">
              <a:buFont typeface="Arial" panose="020B0604020202020204" pitchFamily="34" charset="0"/>
              <a:buChar char="•"/>
            </a:pPr>
            <a:r>
              <a:rPr lang="en-IN" sz="2100" dirty="0" err="1"/>
              <a:t>Analyze</a:t>
            </a:r>
            <a:r>
              <a:rPr lang="en-IN" sz="2100" dirty="0"/>
              <a:t> sales trends and revenue performance </a:t>
            </a:r>
          </a:p>
          <a:p>
            <a:pPr marL="342900" indent="-342900" algn="l">
              <a:buFont typeface="Arial" panose="020B0604020202020204" pitchFamily="34" charset="0"/>
              <a:buChar char="•"/>
            </a:pPr>
            <a:r>
              <a:rPr lang="en-IN" sz="2100" dirty="0"/>
              <a:t>Identify top-performing products and customers</a:t>
            </a:r>
          </a:p>
          <a:p>
            <a:pPr marL="342900" indent="-342900" algn="l">
              <a:buFont typeface="Arial" panose="020B0604020202020204" pitchFamily="34" charset="0"/>
              <a:buChar char="•"/>
            </a:pPr>
            <a:r>
              <a:rPr lang="en-IN" sz="2100" dirty="0"/>
              <a:t> Understand customer purchasing </a:t>
            </a:r>
            <a:r>
              <a:rPr lang="en-IN" sz="2100" dirty="0" err="1"/>
              <a:t>behavior</a:t>
            </a:r>
            <a:r>
              <a:rPr lang="en-IN" sz="2100" dirty="0"/>
              <a:t> </a:t>
            </a:r>
          </a:p>
          <a:p>
            <a:pPr marL="342900" indent="-342900" algn="l">
              <a:buFont typeface="Arial" panose="020B0604020202020204" pitchFamily="34" charset="0"/>
              <a:buChar char="•"/>
            </a:pPr>
            <a:r>
              <a:rPr lang="en-IN" sz="2100" dirty="0"/>
              <a:t>Segment customers based on revenue contribution </a:t>
            </a:r>
          </a:p>
          <a:p>
            <a:pPr marL="342900" indent="-342900" algn="l">
              <a:buFont typeface="Arial" panose="020B0604020202020204" pitchFamily="34" charset="0"/>
              <a:buChar char="•"/>
            </a:pPr>
            <a:r>
              <a:rPr lang="en-IN" sz="2100" dirty="0"/>
              <a:t>Evaluate country-wise sales performance </a:t>
            </a:r>
          </a:p>
          <a:p>
            <a:pPr marL="342900" indent="-342900" algn="l">
              <a:buFont typeface="Arial" panose="020B0604020202020204" pitchFamily="34" charset="0"/>
              <a:buChar char="•"/>
            </a:pPr>
            <a:r>
              <a:rPr lang="en-IN" sz="2100" dirty="0"/>
              <a:t>Monitor key business KPIs and metrics </a:t>
            </a:r>
          </a:p>
          <a:p>
            <a:pPr marL="342900" indent="-342900" algn="l">
              <a:buFont typeface="Arial" panose="020B0604020202020204" pitchFamily="34" charset="0"/>
              <a:buChar char="•"/>
            </a:pPr>
            <a:r>
              <a:rPr lang="en-IN" sz="2100" dirty="0"/>
              <a:t>Develop interactive dashboards for business users </a:t>
            </a:r>
          </a:p>
          <a:p>
            <a:pPr marL="342900" indent="-342900" algn="l">
              <a:buFont typeface="Arial" panose="020B0604020202020204" pitchFamily="34" charset="0"/>
              <a:buChar char="•"/>
            </a:pPr>
            <a:r>
              <a:rPr lang="en-IN" sz="2100" dirty="0"/>
              <a:t>Support management decision-making through data visualization and analytics</a:t>
            </a:r>
          </a:p>
        </p:txBody>
      </p:sp>
    </p:spTree>
    <p:extLst>
      <p:ext uri="{BB962C8B-B14F-4D97-AF65-F5344CB8AC3E}">
        <p14:creationId xmlns:p14="http://schemas.microsoft.com/office/powerpoint/2010/main" val="514844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04027-BB43-8BA1-1FC6-0BA160443EBB}"/>
              </a:ext>
            </a:extLst>
          </p:cNvPr>
          <p:cNvSpPr>
            <a:spLocks noGrp="1"/>
          </p:cNvSpPr>
          <p:nvPr>
            <p:ph type="ctrTitle"/>
          </p:nvPr>
        </p:nvSpPr>
        <p:spPr>
          <a:xfrm>
            <a:off x="0" y="0"/>
            <a:ext cx="966651" cy="600891"/>
          </a:xfrm>
        </p:spPr>
        <p:txBody>
          <a:bodyPr>
            <a:normAutofit/>
          </a:bodyPr>
          <a:lstStyle/>
          <a:p>
            <a:r>
              <a:rPr lang="en-IN" sz="200" dirty="0"/>
              <a:t>.</a:t>
            </a:r>
          </a:p>
        </p:txBody>
      </p:sp>
      <p:sp>
        <p:nvSpPr>
          <p:cNvPr id="3" name="Subtitle 2">
            <a:extLst>
              <a:ext uri="{FF2B5EF4-FFF2-40B4-BE49-F238E27FC236}">
                <a16:creationId xmlns:a16="http://schemas.microsoft.com/office/drawing/2014/main" id="{B42DEBDD-AC11-3415-7503-47BCA34A43C7}"/>
              </a:ext>
            </a:extLst>
          </p:cNvPr>
          <p:cNvSpPr>
            <a:spLocks noGrp="1"/>
          </p:cNvSpPr>
          <p:nvPr>
            <p:ph type="subTitle" idx="1"/>
          </p:nvPr>
        </p:nvSpPr>
        <p:spPr>
          <a:xfrm>
            <a:off x="0" y="69669"/>
            <a:ext cx="12192000" cy="6688182"/>
          </a:xfrm>
        </p:spPr>
        <p:txBody>
          <a:bodyPr>
            <a:normAutofit fontScale="92500" lnSpcReduction="10000"/>
          </a:bodyPr>
          <a:lstStyle/>
          <a:p>
            <a:pPr algn="l"/>
            <a:r>
              <a:rPr lang="en-IN" b="1" dirty="0">
                <a:latin typeface="Calibri" panose="020F0502020204030204" pitchFamily="34" charset="0"/>
                <a:ea typeface="Calibri" panose="020F0502020204030204" pitchFamily="34" charset="0"/>
                <a:cs typeface="Calibri" panose="020F0502020204030204" pitchFamily="34" charset="0"/>
              </a:rPr>
              <a:t>Strategic Goals</a:t>
            </a:r>
          </a:p>
          <a:p>
            <a:pPr marL="342900" indent="-342900" algn="l">
              <a:buFont typeface="Arial" panose="020B0604020202020204" pitchFamily="34" charset="0"/>
              <a:buChar char="•"/>
            </a:pPr>
            <a:r>
              <a:rPr lang="en-IN" sz="2000" dirty="0"/>
              <a:t>Improve visibility into sales performance across products, customers, and regions </a:t>
            </a:r>
          </a:p>
          <a:p>
            <a:pPr marL="342900" indent="-342900" algn="l">
              <a:buFont typeface="Arial" panose="020B0604020202020204" pitchFamily="34" charset="0"/>
              <a:buChar char="•"/>
            </a:pPr>
            <a:r>
              <a:rPr lang="en-IN" sz="2000" dirty="0"/>
              <a:t>Enable data-driven decision-making through centralized reporting </a:t>
            </a:r>
          </a:p>
          <a:p>
            <a:pPr marL="342900" indent="-342900" algn="l">
              <a:buFont typeface="Arial" panose="020B0604020202020204" pitchFamily="34" charset="0"/>
              <a:buChar char="•"/>
            </a:pPr>
            <a:r>
              <a:rPr lang="en-IN" sz="2000" dirty="0"/>
              <a:t>Identify high-value customers and improve customer engagement strategies </a:t>
            </a:r>
          </a:p>
          <a:p>
            <a:pPr marL="342900" indent="-342900" algn="l">
              <a:buFont typeface="Arial" panose="020B0604020202020204" pitchFamily="34" charset="0"/>
              <a:buChar char="•"/>
            </a:pPr>
            <a:r>
              <a:rPr lang="en-IN" sz="2000" dirty="0"/>
              <a:t>Optimize product performance and revenue generation </a:t>
            </a:r>
          </a:p>
          <a:p>
            <a:pPr marL="342900" indent="-342900" algn="l">
              <a:buFont typeface="Arial" panose="020B0604020202020204" pitchFamily="34" charset="0"/>
              <a:buChar char="•"/>
            </a:pPr>
            <a:r>
              <a:rPr lang="en-IN" sz="2000" dirty="0"/>
              <a:t>Enhance business intelligence through interactive dashboards </a:t>
            </a:r>
          </a:p>
          <a:p>
            <a:pPr marL="342900" indent="-342900" algn="l">
              <a:buFont typeface="Arial" panose="020B0604020202020204" pitchFamily="34" charset="0"/>
              <a:buChar char="•"/>
            </a:pPr>
            <a:r>
              <a:rPr lang="en-IN" sz="2000" dirty="0"/>
              <a:t>Reduce manual reporting efforts through automation </a:t>
            </a:r>
          </a:p>
          <a:p>
            <a:pPr marL="342900" indent="-342900" algn="l">
              <a:buFont typeface="Arial" panose="020B0604020202020204" pitchFamily="34" charset="0"/>
              <a:buChar char="•"/>
            </a:pPr>
            <a:r>
              <a:rPr lang="en-IN" sz="2000" dirty="0"/>
              <a:t>Support business growth through actionable insights and analytics</a:t>
            </a:r>
          </a:p>
          <a:p>
            <a:pPr algn="l"/>
            <a:r>
              <a:rPr lang="en-IN" b="1" dirty="0">
                <a:latin typeface="Calibri" panose="020F0502020204030204" pitchFamily="34" charset="0"/>
                <a:ea typeface="Calibri" panose="020F0502020204030204" pitchFamily="34" charset="0"/>
                <a:cs typeface="Calibri" panose="020F0502020204030204" pitchFamily="34" charset="0"/>
              </a:rPr>
              <a:t>Expected Outcomes</a:t>
            </a:r>
          </a:p>
          <a:p>
            <a:pPr marL="342900" indent="-342900" algn="l">
              <a:buFont typeface="Arial" panose="020B0604020202020204" pitchFamily="34" charset="0"/>
              <a:buChar char="•"/>
            </a:pPr>
            <a:r>
              <a:rPr lang="en-IN" sz="2000" dirty="0"/>
              <a:t>Improved visibility into sales and customer </a:t>
            </a:r>
            <a:r>
              <a:rPr lang="en-IN" sz="2000" dirty="0" err="1"/>
              <a:t>behavior</a:t>
            </a:r>
            <a:r>
              <a:rPr lang="en-IN" sz="2000" dirty="0"/>
              <a:t> </a:t>
            </a:r>
          </a:p>
          <a:p>
            <a:pPr marL="342900" indent="-342900" algn="l">
              <a:buFont typeface="Arial" panose="020B0604020202020204" pitchFamily="34" charset="0"/>
              <a:buChar char="•"/>
            </a:pPr>
            <a:r>
              <a:rPr lang="en-IN" sz="2000" dirty="0"/>
              <a:t>Faster and more accurate business reporting </a:t>
            </a:r>
          </a:p>
          <a:p>
            <a:pPr marL="342900" indent="-342900" algn="l">
              <a:buFont typeface="Arial" panose="020B0604020202020204" pitchFamily="34" charset="0"/>
              <a:buChar char="•"/>
            </a:pPr>
            <a:r>
              <a:rPr lang="en-IN" sz="2000" dirty="0"/>
              <a:t>Better identification of high-performing products and customers </a:t>
            </a:r>
          </a:p>
          <a:p>
            <a:pPr marL="342900" indent="-342900" algn="l">
              <a:buFont typeface="Arial" panose="020B0604020202020204" pitchFamily="34" charset="0"/>
              <a:buChar char="•"/>
            </a:pPr>
            <a:r>
              <a:rPr lang="en-IN" sz="2000" dirty="0"/>
              <a:t>Enhanced decision-making through KPI monitoring </a:t>
            </a:r>
          </a:p>
          <a:p>
            <a:pPr marL="342900" indent="-342900" algn="l">
              <a:buFont typeface="Arial" panose="020B0604020202020204" pitchFamily="34" charset="0"/>
              <a:buChar char="•"/>
            </a:pPr>
            <a:r>
              <a:rPr lang="en-IN" sz="2000" dirty="0"/>
              <a:t>Increased operational efficiency through automated dashboards</a:t>
            </a:r>
          </a:p>
          <a:p>
            <a:endParaRPr lang="en-IN" dirty="0"/>
          </a:p>
        </p:txBody>
      </p:sp>
    </p:spTree>
    <p:extLst>
      <p:ext uri="{BB962C8B-B14F-4D97-AF65-F5344CB8AC3E}">
        <p14:creationId xmlns:p14="http://schemas.microsoft.com/office/powerpoint/2010/main" val="386930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665EE-739A-ECB2-75A7-2038CE3BEF6A}"/>
              </a:ext>
            </a:extLst>
          </p:cNvPr>
          <p:cNvSpPr>
            <a:spLocks noGrp="1"/>
          </p:cNvSpPr>
          <p:nvPr>
            <p:ph type="ctrTitle"/>
          </p:nvPr>
        </p:nvSpPr>
        <p:spPr>
          <a:xfrm>
            <a:off x="113210" y="69669"/>
            <a:ext cx="11834949" cy="696685"/>
          </a:xfrm>
        </p:spPr>
        <p:txBody>
          <a:bodyPr>
            <a:norm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Project Work Flow</a:t>
            </a:r>
          </a:p>
        </p:txBody>
      </p:sp>
      <p:sp>
        <p:nvSpPr>
          <p:cNvPr id="3" name="Subtitle 2">
            <a:extLst>
              <a:ext uri="{FF2B5EF4-FFF2-40B4-BE49-F238E27FC236}">
                <a16:creationId xmlns:a16="http://schemas.microsoft.com/office/drawing/2014/main" id="{E210779B-A8CC-B5AF-8886-26F00B6F79CE}"/>
              </a:ext>
            </a:extLst>
          </p:cNvPr>
          <p:cNvSpPr>
            <a:spLocks noGrp="1"/>
          </p:cNvSpPr>
          <p:nvPr>
            <p:ph type="subTitle" idx="1"/>
          </p:nvPr>
        </p:nvSpPr>
        <p:spPr>
          <a:xfrm>
            <a:off x="0" y="716631"/>
            <a:ext cx="12192000" cy="5961017"/>
          </a:xfrm>
        </p:spPr>
        <p:txBody>
          <a:bodyPr>
            <a:normAutofit fontScale="25000" lnSpcReduction="20000"/>
          </a:bodyPr>
          <a:lstStyle/>
          <a:p>
            <a:pPr algn="l"/>
            <a:r>
              <a:rPr lang="en-IN" sz="8000" b="1" dirty="0">
                <a:latin typeface="Calibri" panose="020F0502020204030204" pitchFamily="34" charset="0"/>
                <a:ea typeface="Calibri" panose="020F0502020204030204" pitchFamily="34" charset="0"/>
                <a:cs typeface="Calibri" panose="020F0502020204030204" pitchFamily="34" charset="0"/>
              </a:rPr>
              <a:t>Business Analysis Lifecycle Followed</a:t>
            </a:r>
          </a:p>
          <a:p>
            <a:pPr algn="l"/>
            <a:r>
              <a:rPr lang="en-IN" sz="7600" dirty="0">
                <a:latin typeface="Calibri" panose="020F0502020204030204" pitchFamily="34" charset="0"/>
                <a:ea typeface="Calibri" panose="020F0502020204030204" pitchFamily="34" charset="0"/>
                <a:cs typeface="Calibri" panose="020F0502020204030204" pitchFamily="34" charset="0"/>
              </a:rPr>
              <a:t>The project followed a structured Business Analysis approach to ensure clear requirement gathering, stakeholder alignment, process understanding, solution development, and successful project delivery.</a:t>
            </a:r>
          </a:p>
          <a:p>
            <a:pPr algn="l"/>
            <a:r>
              <a:rPr lang="en-IN" sz="8000" b="1" dirty="0">
                <a:latin typeface="Calibri" panose="020F0502020204030204" pitchFamily="34" charset="0"/>
                <a:ea typeface="Calibri" panose="020F0502020204030204" pitchFamily="34" charset="0"/>
                <a:cs typeface="Calibri" panose="020F0502020204030204" pitchFamily="34" charset="0"/>
              </a:rPr>
              <a:t>Workflow</a:t>
            </a:r>
          </a:p>
          <a:p>
            <a:pPr algn="l"/>
            <a:r>
              <a:rPr lang="en-IN" sz="7600" b="1" dirty="0">
                <a:latin typeface="Calibri" panose="020F0502020204030204" pitchFamily="34" charset="0"/>
                <a:ea typeface="Calibri" panose="020F0502020204030204" pitchFamily="34" charset="0"/>
                <a:cs typeface="Calibri" panose="020F0502020204030204" pitchFamily="34" charset="0"/>
              </a:rPr>
              <a:t>BRD (Business Requirements Document)</a:t>
            </a:r>
          </a:p>
          <a:p>
            <a:pPr algn="l"/>
            <a:r>
              <a:rPr lang="en-IN" sz="7200" dirty="0">
                <a:latin typeface="Calibri" panose="020F0502020204030204" pitchFamily="34" charset="0"/>
                <a:ea typeface="Calibri" panose="020F0502020204030204" pitchFamily="34" charset="0"/>
                <a:cs typeface="Calibri" panose="020F0502020204030204" pitchFamily="34" charset="0"/>
              </a:rPr>
              <a:t>Captured business problems, project objectives, scope, and stakeholder expectations.</a:t>
            </a:r>
          </a:p>
          <a:p>
            <a:pPr algn="l"/>
            <a:r>
              <a:rPr lang="en-IN" sz="7600" b="1" dirty="0">
                <a:latin typeface="Calibri" panose="020F0502020204030204" pitchFamily="34" charset="0"/>
                <a:ea typeface="Calibri" panose="020F0502020204030204" pitchFamily="34" charset="0"/>
                <a:cs typeface="Calibri" panose="020F0502020204030204" pitchFamily="34" charset="0"/>
              </a:rPr>
              <a:t>Stakeholder Matrix</a:t>
            </a:r>
          </a:p>
          <a:p>
            <a:pPr algn="l"/>
            <a:r>
              <a:rPr lang="en-IN" sz="7200" dirty="0">
                <a:latin typeface="Calibri" panose="020F0502020204030204" pitchFamily="34" charset="0"/>
                <a:ea typeface="Calibri" panose="020F0502020204030204" pitchFamily="34" charset="0"/>
                <a:cs typeface="Calibri" panose="020F0502020204030204" pitchFamily="34" charset="0"/>
              </a:rPr>
              <a:t>Identified key stakeholders, their roles, influence levels, responsibilities, and project involvement.</a:t>
            </a:r>
          </a:p>
          <a:p>
            <a:pPr algn="l"/>
            <a:r>
              <a:rPr lang="en-IN" sz="7600" b="1" dirty="0">
                <a:latin typeface="Calibri" panose="020F0502020204030204" pitchFamily="34" charset="0"/>
                <a:ea typeface="Calibri" panose="020F0502020204030204" pitchFamily="34" charset="0"/>
                <a:cs typeface="Calibri" panose="020F0502020204030204" pitchFamily="34" charset="0"/>
              </a:rPr>
              <a:t>FRD (Functional Requirements Document)</a:t>
            </a:r>
          </a:p>
          <a:p>
            <a:pPr algn="l"/>
            <a:r>
              <a:rPr lang="en-IN" sz="7200" dirty="0">
                <a:latin typeface="Calibri" panose="020F0502020204030204" pitchFamily="34" charset="0"/>
                <a:ea typeface="Calibri" panose="020F0502020204030204" pitchFamily="34" charset="0"/>
                <a:cs typeface="Calibri" panose="020F0502020204030204" pitchFamily="34" charset="0"/>
              </a:rPr>
              <a:t>Defined detailed system functionalities, KPIs, dashboard requirements, and reporting needs.</a:t>
            </a:r>
          </a:p>
          <a:p>
            <a:pPr algn="l"/>
            <a:r>
              <a:rPr lang="en-IN" sz="7600" b="1" dirty="0">
                <a:latin typeface="Calibri" panose="020F0502020204030204" pitchFamily="34" charset="0"/>
                <a:ea typeface="Calibri" panose="020F0502020204030204" pitchFamily="34" charset="0"/>
                <a:cs typeface="Calibri" panose="020F0502020204030204" pitchFamily="34" charset="0"/>
              </a:rPr>
              <a:t>User Stories</a:t>
            </a:r>
          </a:p>
          <a:p>
            <a:pPr algn="l"/>
            <a:r>
              <a:rPr lang="en-IN" sz="7200" dirty="0">
                <a:latin typeface="Calibri" panose="020F0502020204030204" pitchFamily="34" charset="0"/>
                <a:ea typeface="Calibri" panose="020F0502020204030204" pitchFamily="34" charset="0"/>
                <a:cs typeface="Calibri" panose="020F0502020204030204" pitchFamily="34" charset="0"/>
              </a:rPr>
              <a:t>Translated business requirements into user-centric scenarios to understand stakeholder expectations and business needs.</a:t>
            </a:r>
          </a:p>
          <a:p>
            <a:pPr algn="l"/>
            <a:r>
              <a:rPr lang="en-IN" sz="7600" b="1" dirty="0">
                <a:latin typeface="Calibri" panose="020F0502020204030204" pitchFamily="34" charset="0"/>
                <a:ea typeface="Calibri" panose="020F0502020204030204" pitchFamily="34" charset="0"/>
                <a:cs typeface="Calibri" panose="020F0502020204030204" pitchFamily="34" charset="0"/>
              </a:rPr>
              <a:t>Process Analysis (AS-IS &amp; TO-BE)</a:t>
            </a:r>
          </a:p>
          <a:p>
            <a:pPr algn="l"/>
            <a:r>
              <a:rPr lang="en-IN" sz="7200" dirty="0" err="1">
                <a:latin typeface="Calibri" panose="020F0502020204030204" pitchFamily="34" charset="0"/>
                <a:ea typeface="Calibri" panose="020F0502020204030204" pitchFamily="34" charset="0"/>
                <a:cs typeface="Calibri" panose="020F0502020204030204" pitchFamily="34" charset="0"/>
              </a:rPr>
              <a:t>Analyzed</a:t>
            </a:r>
            <a:r>
              <a:rPr lang="en-IN" sz="7200" dirty="0">
                <a:latin typeface="Calibri" panose="020F0502020204030204" pitchFamily="34" charset="0"/>
                <a:ea typeface="Calibri" panose="020F0502020204030204" pitchFamily="34" charset="0"/>
                <a:cs typeface="Calibri" panose="020F0502020204030204" pitchFamily="34" charset="0"/>
              </a:rPr>
              <a:t> existing reporting processes, identified inefficiencies, and designed an improved future-state process</a:t>
            </a:r>
            <a:r>
              <a:rPr lang="en-IN" sz="7200" dirty="0"/>
              <a:t>.</a:t>
            </a:r>
          </a:p>
          <a:p>
            <a:pPr algn="l"/>
            <a:endParaRPr lang="en-IN" sz="8000" b="1" dirty="0">
              <a:latin typeface="Calibri" panose="020F0502020204030204" pitchFamily="34" charset="0"/>
              <a:ea typeface="Calibri" panose="020F0502020204030204" pitchFamily="34" charset="0"/>
              <a:cs typeface="Calibri" panose="020F0502020204030204" pitchFamily="34" charset="0"/>
            </a:endParaRPr>
          </a:p>
          <a:p>
            <a:pPr algn="l"/>
            <a:endParaRPr lang="en-IN" sz="8000" b="1"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3642798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98324-11BB-3790-1C9A-59288CCFB1CC}"/>
              </a:ext>
            </a:extLst>
          </p:cNvPr>
          <p:cNvSpPr>
            <a:spLocks noGrp="1"/>
          </p:cNvSpPr>
          <p:nvPr>
            <p:ph type="title"/>
          </p:nvPr>
        </p:nvSpPr>
        <p:spPr>
          <a:xfrm>
            <a:off x="0" y="1"/>
            <a:ext cx="1175658" cy="269966"/>
          </a:xfrm>
        </p:spPr>
        <p:txBody>
          <a:bodyPr>
            <a:normAutofit/>
          </a:bodyPr>
          <a:lstStyle/>
          <a:p>
            <a:r>
              <a:rPr lang="en-IN" sz="200" dirty="0"/>
              <a:t>.</a:t>
            </a:r>
          </a:p>
        </p:txBody>
      </p:sp>
      <p:sp>
        <p:nvSpPr>
          <p:cNvPr id="3" name="Content Placeholder 2">
            <a:extLst>
              <a:ext uri="{FF2B5EF4-FFF2-40B4-BE49-F238E27FC236}">
                <a16:creationId xmlns:a16="http://schemas.microsoft.com/office/drawing/2014/main" id="{D2D20B68-32DA-C539-28AE-AC90A59EE846}"/>
              </a:ext>
            </a:extLst>
          </p:cNvPr>
          <p:cNvSpPr>
            <a:spLocks noGrp="1"/>
          </p:cNvSpPr>
          <p:nvPr>
            <p:ph idx="1"/>
          </p:nvPr>
        </p:nvSpPr>
        <p:spPr>
          <a:xfrm>
            <a:off x="0" y="0"/>
            <a:ext cx="11267557" cy="5791200"/>
          </a:xfrm>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Gap Analysis</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Compared the current manual reporting process with the proposed analytics-driven solution to identify process gaps and improvement opportunities.</a:t>
            </a:r>
          </a:p>
          <a:p>
            <a:r>
              <a:rPr lang="en-IN" b="1" dirty="0">
                <a:latin typeface="Calibri" panose="020F0502020204030204" pitchFamily="34" charset="0"/>
                <a:ea typeface="Calibri" panose="020F0502020204030204" pitchFamily="34" charset="0"/>
                <a:cs typeface="Calibri" panose="020F0502020204030204" pitchFamily="34" charset="0"/>
              </a:rPr>
              <a:t>Requirements Traceability Matrix (RTM)</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Mapped business requirements to functional requirements, dashboards, and testing activities to ensure complete requirement coverage.</a:t>
            </a:r>
          </a:p>
          <a:p>
            <a:r>
              <a:rPr lang="en-IN" b="1" dirty="0">
                <a:latin typeface="Calibri" panose="020F0502020204030204" pitchFamily="34" charset="0"/>
                <a:ea typeface="Calibri" panose="020F0502020204030204" pitchFamily="34" charset="0"/>
                <a:cs typeface="Calibri" panose="020F0502020204030204" pitchFamily="34" charset="0"/>
              </a:rPr>
              <a:t>User Acceptance Testing (UAT)</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Validated dashboards, KPIs, reports, and filters to ensure the final solution met stakeholder expectations and business requirements.</a:t>
            </a:r>
          </a:p>
          <a:p>
            <a:r>
              <a:rPr lang="en-IN" b="1" dirty="0">
                <a:latin typeface="Calibri" panose="020F0502020204030204" pitchFamily="34" charset="0"/>
                <a:ea typeface="Calibri" panose="020F0502020204030204" pitchFamily="34" charset="0"/>
                <a:cs typeface="Calibri" panose="020F0502020204030204" pitchFamily="34" charset="0"/>
              </a:rPr>
              <a:t>Outcome</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A structured Business Analysis lifecycle ensured alignment between business objectives and the final analytics solution.</a:t>
            </a:r>
          </a:p>
          <a:p>
            <a:pPr marL="0" indent="0">
              <a:buNone/>
            </a:pPr>
            <a:endParaRPr lang="en-IN" dirty="0"/>
          </a:p>
        </p:txBody>
      </p:sp>
    </p:spTree>
    <p:extLst>
      <p:ext uri="{BB962C8B-B14F-4D97-AF65-F5344CB8AC3E}">
        <p14:creationId xmlns:p14="http://schemas.microsoft.com/office/powerpoint/2010/main" val="4159318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57CCD-92C1-50C3-DE95-BACCA702C85D}"/>
              </a:ext>
            </a:extLst>
          </p:cNvPr>
          <p:cNvSpPr>
            <a:spLocks noGrp="1"/>
          </p:cNvSpPr>
          <p:nvPr>
            <p:ph type="title"/>
          </p:nvPr>
        </p:nvSpPr>
        <p:spPr>
          <a:xfrm>
            <a:off x="0" y="0"/>
            <a:ext cx="12191999" cy="896983"/>
          </a:xfrm>
        </p:spPr>
        <p:txBody>
          <a:bodyPr>
            <a:norm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Requirements Gathering</a:t>
            </a:r>
          </a:p>
        </p:txBody>
      </p:sp>
      <p:sp>
        <p:nvSpPr>
          <p:cNvPr id="3" name="Content Placeholder 2">
            <a:extLst>
              <a:ext uri="{FF2B5EF4-FFF2-40B4-BE49-F238E27FC236}">
                <a16:creationId xmlns:a16="http://schemas.microsoft.com/office/drawing/2014/main" id="{5AFBBDA4-6814-07A3-73F1-81A1C244D19C}"/>
              </a:ext>
            </a:extLst>
          </p:cNvPr>
          <p:cNvSpPr>
            <a:spLocks noGrp="1"/>
          </p:cNvSpPr>
          <p:nvPr>
            <p:ph idx="1"/>
          </p:nvPr>
        </p:nvSpPr>
        <p:spPr>
          <a:xfrm>
            <a:off x="0" y="679269"/>
            <a:ext cx="12191999" cy="6178731"/>
          </a:xfrm>
        </p:spPr>
        <p:txBody>
          <a:bodyPr>
            <a:normAutofit fontScale="92500" lnSpcReduction="20000"/>
          </a:bodyPr>
          <a:lstStyle/>
          <a:p>
            <a:pPr marL="0" indent="0">
              <a:buNone/>
            </a:pPr>
            <a:r>
              <a:rPr lang="en-IN" sz="2200" b="1" dirty="0"/>
              <a:t> </a:t>
            </a:r>
            <a:r>
              <a:rPr lang="en-IN" sz="2200" b="1" dirty="0">
                <a:latin typeface="Calibri" panose="020F0502020204030204" pitchFamily="34" charset="0"/>
                <a:ea typeface="Calibri" panose="020F0502020204030204" pitchFamily="34" charset="0"/>
                <a:cs typeface="Calibri" panose="020F0502020204030204" pitchFamily="34" charset="0"/>
              </a:rPr>
              <a:t>Requirement Elicitation Process</a:t>
            </a:r>
          </a:p>
          <a:p>
            <a:pPr algn="just"/>
            <a:r>
              <a:rPr lang="en-IN" dirty="0">
                <a:latin typeface="Calibri" panose="020F0502020204030204" pitchFamily="34" charset="0"/>
                <a:ea typeface="Calibri" panose="020F0502020204030204" pitchFamily="34" charset="0"/>
                <a:cs typeface="Calibri" panose="020F0502020204030204" pitchFamily="34" charset="0"/>
              </a:rPr>
              <a:t>Requirements were gathered through stakeholder discussions, business process analysis, review of existing reporting methods, and understanding of business objectives. The focus was to identify key sales, customer, and product metrics required for effective business decision-making.</a:t>
            </a:r>
          </a:p>
          <a:p>
            <a:pPr marL="0" indent="0">
              <a:buNone/>
            </a:pPr>
            <a:r>
              <a:rPr lang="en-IN" sz="2200" b="1" dirty="0">
                <a:latin typeface="Calibri" panose="020F0502020204030204" pitchFamily="34" charset="0"/>
                <a:ea typeface="Calibri" panose="020F0502020204030204" pitchFamily="34" charset="0"/>
                <a:cs typeface="Calibri" panose="020F0502020204030204" pitchFamily="34" charset="0"/>
              </a:rPr>
              <a:t> Business Requirements</a:t>
            </a:r>
          </a:p>
          <a:p>
            <a:r>
              <a:rPr lang="en-IN" dirty="0">
                <a:latin typeface="Calibri" panose="020F0502020204030204" pitchFamily="34" charset="0"/>
                <a:ea typeface="Calibri" panose="020F0502020204030204" pitchFamily="34" charset="0"/>
                <a:cs typeface="Calibri" panose="020F0502020204030204" pitchFamily="34" charset="0"/>
              </a:rPr>
              <a:t>Track overall sales performance and revenue trends </a:t>
            </a:r>
          </a:p>
          <a:p>
            <a:r>
              <a:rPr lang="en-IN" dirty="0">
                <a:latin typeface="Calibri" panose="020F0502020204030204" pitchFamily="34" charset="0"/>
                <a:ea typeface="Calibri" panose="020F0502020204030204" pitchFamily="34" charset="0"/>
                <a:cs typeface="Calibri" panose="020F0502020204030204" pitchFamily="34" charset="0"/>
              </a:rPr>
              <a:t>Monitor customer purchasing </a:t>
            </a:r>
            <a:r>
              <a:rPr lang="en-IN" dirty="0" err="1">
                <a:latin typeface="Calibri" panose="020F0502020204030204" pitchFamily="34" charset="0"/>
                <a:ea typeface="Calibri" panose="020F0502020204030204" pitchFamily="34" charset="0"/>
                <a:cs typeface="Calibri" panose="020F0502020204030204" pitchFamily="34" charset="0"/>
              </a:rPr>
              <a:t>behavior</a:t>
            </a:r>
            <a:r>
              <a:rPr lang="en-IN" dirty="0">
                <a:latin typeface="Calibri" panose="020F0502020204030204" pitchFamily="34" charset="0"/>
                <a:ea typeface="Calibri" panose="020F0502020204030204" pitchFamily="34" charset="0"/>
                <a:cs typeface="Calibri" panose="020F0502020204030204" pitchFamily="34" charset="0"/>
              </a:rPr>
              <a:t> and segmentation </a:t>
            </a:r>
          </a:p>
          <a:p>
            <a:r>
              <a:rPr lang="en-IN" dirty="0">
                <a:latin typeface="Calibri" panose="020F0502020204030204" pitchFamily="34" charset="0"/>
                <a:ea typeface="Calibri" panose="020F0502020204030204" pitchFamily="34" charset="0"/>
                <a:cs typeface="Calibri" panose="020F0502020204030204" pitchFamily="34" charset="0"/>
              </a:rPr>
              <a:t>Identify top-performing customers and products </a:t>
            </a:r>
          </a:p>
          <a:p>
            <a:r>
              <a:rPr lang="en-IN" dirty="0" err="1">
                <a:latin typeface="Calibri" panose="020F0502020204030204" pitchFamily="34" charset="0"/>
                <a:ea typeface="Calibri" panose="020F0502020204030204" pitchFamily="34" charset="0"/>
                <a:cs typeface="Calibri" panose="020F0502020204030204" pitchFamily="34" charset="0"/>
              </a:rPr>
              <a:t>Analyze</a:t>
            </a:r>
            <a:r>
              <a:rPr lang="en-IN" dirty="0">
                <a:latin typeface="Calibri" panose="020F0502020204030204" pitchFamily="34" charset="0"/>
                <a:ea typeface="Calibri" panose="020F0502020204030204" pitchFamily="34" charset="0"/>
                <a:cs typeface="Calibri" panose="020F0502020204030204" pitchFamily="34" charset="0"/>
              </a:rPr>
              <a:t> country-wise sales performance </a:t>
            </a:r>
          </a:p>
          <a:p>
            <a:r>
              <a:rPr lang="en-IN" dirty="0">
                <a:latin typeface="Calibri" panose="020F0502020204030204" pitchFamily="34" charset="0"/>
                <a:ea typeface="Calibri" panose="020F0502020204030204" pitchFamily="34" charset="0"/>
                <a:cs typeface="Calibri" panose="020F0502020204030204" pitchFamily="34" charset="0"/>
              </a:rPr>
              <a:t>Measure key business KPIs and metrics </a:t>
            </a:r>
          </a:p>
          <a:p>
            <a:r>
              <a:rPr lang="en-IN" dirty="0">
                <a:latin typeface="Calibri" panose="020F0502020204030204" pitchFamily="34" charset="0"/>
                <a:ea typeface="Calibri" panose="020F0502020204030204" pitchFamily="34" charset="0"/>
                <a:cs typeface="Calibri" panose="020F0502020204030204" pitchFamily="34" charset="0"/>
              </a:rPr>
              <a:t>Improve reporting efficiency through automation </a:t>
            </a:r>
          </a:p>
          <a:p>
            <a:r>
              <a:rPr lang="en-IN" dirty="0">
                <a:latin typeface="Calibri" panose="020F0502020204030204" pitchFamily="34" charset="0"/>
                <a:ea typeface="Calibri" panose="020F0502020204030204" pitchFamily="34" charset="0"/>
                <a:cs typeface="Calibri" panose="020F0502020204030204" pitchFamily="34" charset="0"/>
              </a:rPr>
              <a:t>Provide interactive dashboards for business users </a:t>
            </a:r>
          </a:p>
          <a:p>
            <a:r>
              <a:rPr lang="en-IN" dirty="0">
                <a:latin typeface="Calibri" panose="020F0502020204030204" pitchFamily="34" charset="0"/>
                <a:ea typeface="Calibri" panose="020F0502020204030204" pitchFamily="34" charset="0"/>
                <a:cs typeface="Calibri" panose="020F0502020204030204" pitchFamily="34" charset="0"/>
              </a:rPr>
              <a:t>Generate actionable business insights and recommendations </a:t>
            </a:r>
          </a:p>
          <a:p>
            <a:r>
              <a:rPr lang="en-IN" dirty="0">
                <a:latin typeface="Calibri" panose="020F0502020204030204" pitchFamily="34" charset="0"/>
                <a:ea typeface="Calibri" panose="020F0502020204030204" pitchFamily="34" charset="0"/>
                <a:cs typeface="Calibri" panose="020F0502020204030204" pitchFamily="34" charset="0"/>
              </a:rPr>
              <a:t>Support management decision-making through data visualization </a:t>
            </a:r>
          </a:p>
          <a:p>
            <a:r>
              <a:rPr lang="en-IN" dirty="0">
                <a:latin typeface="Calibri" panose="020F0502020204030204" pitchFamily="34" charset="0"/>
                <a:ea typeface="Calibri" panose="020F0502020204030204" pitchFamily="34" charset="0"/>
                <a:cs typeface="Calibri" panose="020F0502020204030204" pitchFamily="34" charset="0"/>
              </a:rPr>
              <a:t>Establish a centralized analytics and reporting solution</a:t>
            </a:r>
          </a:p>
        </p:txBody>
      </p:sp>
    </p:spTree>
    <p:extLst>
      <p:ext uri="{BB962C8B-B14F-4D97-AF65-F5344CB8AC3E}">
        <p14:creationId xmlns:p14="http://schemas.microsoft.com/office/powerpoint/2010/main" val="4174661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664AB-B847-C78C-788F-4ACFC7F57273}"/>
              </a:ext>
            </a:extLst>
          </p:cNvPr>
          <p:cNvSpPr>
            <a:spLocks noGrp="1"/>
          </p:cNvSpPr>
          <p:nvPr>
            <p:ph type="ctrTitle"/>
          </p:nvPr>
        </p:nvSpPr>
        <p:spPr>
          <a:xfrm>
            <a:off x="79978" y="190546"/>
            <a:ext cx="686377" cy="271008"/>
          </a:xfrm>
        </p:spPr>
        <p:txBody>
          <a:bodyPr>
            <a:normAutofit/>
          </a:bodyPr>
          <a:lstStyle/>
          <a:p>
            <a:r>
              <a:rPr lang="en-IN" sz="200" dirty="0"/>
              <a:t>.</a:t>
            </a:r>
          </a:p>
        </p:txBody>
      </p:sp>
      <p:sp>
        <p:nvSpPr>
          <p:cNvPr id="3" name="Subtitle 2">
            <a:extLst>
              <a:ext uri="{FF2B5EF4-FFF2-40B4-BE49-F238E27FC236}">
                <a16:creationId xmlns:a16="http://schemas.microsoft.com/office/drawing/2014/main" id="{5FAC1524-328B-831F-A072-7DAD3F76DF2C}"/>
              </a:ext>
            </a:extLst>
          </p:cNvPr>
          <p:cNvSpPr>
            <a:spLocks noGrp="1"/>
          </p:cNvSpPr>
          <p:nvPr>
            <p:ph type="subTitle" idx="1"/>
          </p:nvPr>
        </p:nvSpPr>
        <p:spPr>
          <a:xfrm>
            <a:off x="79978" y="0"/>
            <a:ext cx="12032044" cy="6766560"/>
          </a:xfrm>
        </p:spPr>
        <p:txBody>
          <a:bodyPr>
            <a:normAutofit fontScale="92500" lnSpcReduction="20000"/>
          </a:bodyPr>
          <a:lstStyle/>
          <a:p>
            <a:pPr algn="l"/>
            <a:r>
              <a:rPr lang="en-IN" sz="2200" b="1" dirty="0">
                <a:latin typeface="Calibri" panose="020F0502020204030204" pitchFamily="34" charset="0"/>
                <a:ea typeface="Calibri" panose="020F0502020204030204" pitchFamily="34" charset="0"/>
                <a:cs typeface="Calibri" panose="020F0502020204030204" pitchFamily="34" charset="0"/>
              </a:rPr>
              <a:t>1.Functional Requirements</a:t>
            </a:r>
          </a:p>
          <a:p>
            <a:pPr marL="342900" indent="-342900" algn="l">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Interactive Power BI dashboards </a:t>
            </a:r>
          </a:p>
          <a:p>
            <a:pPr marL="342900" indent="-342900" algn="l">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Sales and Revenue Analysis </a:t>
            </a:r>
          </a:p>
          <a:p>
            <a:pPr marL="342900" indent="-342900" algn="l">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Customer Segmentation </a:t>
            </a:r>
          </a:p>
          <a:p>
            <a:pPr marL="342900" indent="-342900" algn="l">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Customer </a:t>
            </a:r>
            <a:r>
              <a:rPr lang="en-IN" sz="2000" dirty="0" err="1">
                <a:latin typeface="Calibri" panose="020F0502020204030204" pitchFamily="34" charset="0"/>
                <a:ea typeface="Calibri" panose="020F0502020204030204" pitchFamily="34" charset="0"/>
                <a:cs typeface="Calibri" panose="020F0502020204030204" pitchFamily="34" charset="0"/>
              </a:rPr>
              <a:t>Behavior</a:t>
            </a:r>
            <a:r>
              <a:rPr lang="en-IN" sz="2000" dirty="0">
                <a:latin typeface="Calibri" panose="020F0502020204030204" pitchFamily="34" charset="0"/>
                <a:ea typeface="Calibri" panose="020F0502020204030204" pitchFamily="34" charset="0"/>
                <a:cs typeface="Calibri" panose="020F0502020204030204" pitchFamily="34" charset="0"/>
              </a:rPr>
              <a:t> Analysis </a:t>
            </a:r>
          </a:p>
          <a:p>
            <a:pPr marL="342900" indent="-342900" algn="l">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Product Performance </a:t>
            </a:r>
          </a:p>
          <a:p>
            <a:pPr marL="342900" indent="-342900" algn="l">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Monitoring Country-wise Sales Analysis </a:t>
            </a:r>
          </a:p>
          <a:p>
            <a:pPr marL="342900" indent="-342900" algn="l">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KPI Reporting and Business Metrics Tracking</a:t>
            </a:r>
          </a:p>
          <a:p>
            <a:pPr algn="l"/>
            <a:r>
              <a:rPr lang="en-IN" sz="2200" b="1" dirty="0">
                <a:latin typeface="Calibri" panose="020F0502020204030204" pitchFamily="34" charset="0"/>
                <a:ea typeface="Calibri" panose="020F0502020204030204" pitchFamily="34" charset="0"/>
                <a:cs typeface="Calibri" panose="020F0502020204030204" pitchFamily="34" charset="0"/>
              </a:rPr>
              <a:t>2.Non-Functional Requirements</a:t>
            </a:r>
          </a:p>
          <a:p>
            <a:pPr marL="342900" indent="-342900" algn="l">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High Performance and Fast Reporting</a:t>
            </a:r>
          </a:p>
          <a:p>
            <a:pPr marL="342900" indent="-342900" algn="l">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 Data Accuracy and Reliability </a:t>
            </a:r>
          </a:p>
          <a:p>
            <a:pPr marL="342900" indent="-342900" algn="l">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Secure Data Management </a:t>
            </a:r>
          </a:p>
          <a:p>
            <a:pPr marL="342900" indent="-342900" algn="l">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Scalability for Future Data Growth </a:t>
            </a:r>
          </a:p>
          <a:p>
            <a:pPr marL="342900" indent="-342900" algn="l">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User-Friendly Dashboard Experience</a:t>
            </a:r>
          </a:p>
          <a:p>
            <a:pPr algn="l"/>
            <a:r>
              <a:rPr lang="en-IN" sz="2200" b="1" dirty="0">
                <a:latin typeface="Calibri" panose="020F0502020204030204" pitchFamily="34" charset="0"/>
                <a:ea typeface="Calibri" panose="020F0502020204030204" pitchFamily="34" charset="0"/>
                <a:cs typeface="Calibri" panose="020F0502020204030204" pitchFamily="34" charset="0"/>
              </a:rPr>
              <a:t>Requirement Prioritization</a:t>
            </a:r>
          </a:p>
          <a:p>
            <a:pPr algn="l"/>
            <a:r>
              <a:rPr lang="en-IN" sz="2200" dirty="0">
                <a:latin typeface="Calibri" panose="020F0502020204030204" pitchFamily="34" charset="0"/>
                <a:ea typeface="Calibri" panose="020F0502020204030204" pitchFamily="34" charset="0"/>
                <a:cs typeface="Calibri" panose="020F0502020204030204" pitchFamily="34" charset="0"/>
              </a:rPr>
              <a:t>Requirements were prioritized based on business value, implementation feasibility, and stakeholder expectations.</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1879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B015-4362-9A9D-9298-9A15A4869A39}"/>
              </a:ext>
            </a:extLst>
          </p:cNvPr>
          <p:cNvSpPr>
            <a:spLocks noGrp="1"/>
          </p:cNvSpPr>
          <p:nvPr>
            <p:ph type="title"/>
          </p:nvPr>
        </p:nvSpPr>
        <p:spPr>
          <a:xfrm>
            <a:off x="60961" y="0"/>
            <a:ext cx="12061370" cy="836023"/>
          </a:xfrm>
        </p:spPr>
        <p:txBody>
          <a:bodyPr>
            <a:norm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Dataset description</a:t>
            </a:r>
          </a:p>
        </p:txBody>
      </p:sp>
      <p:sp>
        <p:nvSpPr>
          <p:cNvPr id="3" name="Content Placeholder 2">
            <a:extLst>
              <a:ext uri="{FF2B5EF4-FFF2-40B4-BE49-F238E27FC236}">
                <a16:creationId xmlns:a16="http://schemas.microsoft.com/office/drawing/2014/main" id="{0CEF6549-2B07-4F13-08D4-1B2719CBE783}"/>
              </a:ext>
            </a:extLst>
          </p:cNvPr>
          <p:cNvSpPr>
            <a:spLocks noGrp="1"/>
          </p:cNvSpPr>
          <p:nvPr>
            <p:ph idx="1"/>
          </p:nvPr>
        </p:nvSpPr>
        <p:spPr>
          <a:xfrm>
            <a:off x="130631" y="115669"/>
            <a:ext cx="12061369" cy="6250718"/>
          </a:xfrm>
        </p:spPr>
        <p:txBody>
          <a:bodyPr>
            <a:noAutofit/>
          </a:bodyPr>
          <a:lstStyle/>
          <a:p>
            <a:pPr marL="0" indent="0">
              <a:buNone/>
            </a:pPr>
            <a:r>
              <a:rPr lang="en-IN" b="1" dirty="0">
                <a:latin typeface="Calibri" panose="020F0502020204030204" pitchFamily="34" charset="0"/>
                <a:ea typeface="Calibri" panose="020F0502020204030204" pitchFamily="34" charset="0"/>
                <a:cs typeface="Calibri" panose="020F0502020204030204" pitchFamily="34" charset="0"/>
              </a:rPr>
              <a:t>Dataset Description</a:t>
            </a:r>
          </a:p>
          <a:p>
            <a:r>
              <a:rPr lang="en-IN" sz="1900" dirty="0">
                <a:latin typeface="Calibri" panose="020F0502020204030204" pitchFamily="34" charset="0"/>
                <a:ea typeface="Calibri" panose="020F0502020204030204" pitchFamily="34" charset="0"/>
                <a:cs typeface="Calibri" panose="020F0502020204030204" pitchFamily="34" charset="0"/>
              </a:rPr>
              <a:t>The project utilizes e-commerce transaction data containing customer, product, sales, and revenue information to </a:t>
            </a:r>
            <a:r>
              <a:rPr lang="en-IN" sz="1900" dirty="0" err="1">
                <a:latin typeface="Calibri" panose="020F0502020204030204" pitchFamily="34" charset="0"/>
                <a:ea typeface="Calibri" panose="020F0502020204030204" pitchFamily="34" charset="0"/>
                <a:cs typeface="Calibri" panose="020F0502020204030204" pitchFamily="34" charset="0"/>
              </a:rPr>
              <a:t>analyze</a:t>
            </a:r>
            <a:r>
              <a:rPr lang="en-IN" sz="1900" dirty="0">
                <a:latin typeface="Calibri" panose="020F0502020204030204" pitchFamily="34" charset="0"/>
                <a:ea typeface="Calibri" panose="020F0502020204030204" pitchFamily="34" charset="0"/>
                <a:cs typeface="Calibri" panose="020F0502020204030204" pitchFamily="34" charset="0"/>
              </a:rPr>
              <a:t> business performance and generate actionable insights.</a:t>
            </a:r>
          </a:p>
          <a:p>
            <a:pPr marL="0" indent="0">
              <a:buNone/>
            </a:pPr>
            <a:r>
              <a:rPr lang="en-IN" sz="1900" b="1" dirty="0">
                <a:latin typeface="Calibri" panose="020F0502020204030204" pitchFamily="34" charset="0"/>
                <a:ea typeface="Calibri" panose="020F0502020204030204" pitchFamily="34" charset="0"/>
                <a:cs typeface="Calibri" panose="020F0502020204030204" pitchFamily="34" charset="0"/>
              </a:rPr>
              <a:t>Data Categories</a:t>
            </a:r>
          </a:p>
          <a:p>
            <a:pPr marL="0" indent="0">
              <a:buNone/>
            </a:pPr>
            <a:r>
              <a:rPr lang="en-IN" sz="1800" b="1" dirty="0">
                <a:latin typeface="Calibri" panose="020F0502020204030204" pitchFamily="34" charset="0"/>
                <a:ea typeface="Calibri" panose="020F0502020204030204" pitchFamily="34" charset="0"/>
                <a:cs typeface="Calibri" panose="020F0502020204030204" pitchFamily="34" charset="0"/>
              </a:rPr>
              <a:t>Customer Information</a:t>
            </a:r>
          </a:p>
          <a:p>
            <a:r>
              <a:rPr lang="en-IN" sz="1800" dirty="0">
                <a:latin typeface="Calibri" panose="020F0502020204030204" pitchFamily="34" charset="0"/>
                <a:ea typeface="Calibri" panose="020F0502020204030204" pitchFamily="34" charset="0"/>
                <a:cs typeface="Calibri" panose="020F0502020204030204" pitchFamily="34" charset="0"/>
              </a:rPr>
              <a:t>Customer ID </a:t>
            </a:r>
          </a:p>
          <a:p>
            <a:r>
              <a:rPr lang="en-IN" sz="1800" dirty="0">
                <a:latin typeface="Calibri" panose="020F0502020204030204" pitchFamily="34" charset="0"/>
                <a:ea typeface="Calibri" panose="020F0502020204030204" pitchFamily="34" charset="0"/>
                <a:cs typeface="Calibri" panose="020F0502020204030204" pitchFamily="34" charset="0"/>
              </a:rPr>
              <a:t>Customer Segment </a:t>
            </a:r>
          </a:p>
          <a:p>
            <a:r>
              <a:rPr lang="en-IN" sz="1800" dirty="0">
                <a:latin typeface="Calibri" panose="020F0502020204030204" pitchFamily="34" charset="0"/>
                <a:ea typeface="Calibri" panose="020F0502020204030204" pitchFamily="34" charset="0"/>
                <a:cs typeface="Calibri" panose="020F0502020204030204" pitchFamily="34" charset="0"/>
              </a:rPr>
              <a:t>Country </a:t>
            </a:r>
          </a:p>
          <a:p>
            <a:pPr marL="0" indent="0">
              <a:buNone/>
            </a:pPr>
            <a:r>
              <a:rPr lang="en-IN" sz="1800" b="1" dirty="0">
                <a:latin typeface="Calibri" panose="020F0502020204030204" pitchFamily="34" charset="0"/>
                <a:ea typeface="Calibri" panose="020F0502020204030204" pitchFamily="34" charset="0"/>
                <a:cs typeface="Calibri" panose="020F0502020204030204" pitchFamily="34" charset="0"/>
              </a:rPr>
              <a:t>Product Information</a:t>
            </a:r>
          </a:p>
          <a:p>
            <a:r>
              <a:rPr lang="en-IN" sz="1800" dirty="0">
                <a:latin typeface="Calibri" panose="020F0502020204030204" pitchFamily="34" charset="0"/>
                <a:ea typeface="Calibri" panose="020F0502020204030204" pitchFamily="34" charset="0"/>
                <a:cs typeface="Calibri" panose="020F0502020204030204" pitchFamily="34" charset="0"/>
              </a:rPr>
              <a:t>Stock Code </a:t>
            </a:r>
          </a:p>
          <a:p>
            <a:r>
              <a:rPr lang="en-IN" sz="1800" dirty="0">
                <a:latin typeface="Calibri" panose="020F0502020204030204" pitchFamily="34" charset="0"/>
                <a:ea typeface="Calibri" panose="020F0502020204030204" pitchFamily="34" charset="0"/>
                <a:cs typeface="Calibri" panose="020F0502020204030204" pitchFamily="34" charset="0"/>
              </a:rPr>
              <a:t>Product Description </a:t>
            </a:r>
          </a:p>
          <a:p>
            <a:r>
              <a:rPr lang="en-IN" sz="1800" dirty="0">
                <a:latin typeface="Calibri" panose="020F0502020204030204" pitchFamily="34" charset="0"/>
                <a:ea typeface="Calibri" panose="020F0502020204030204" pitchFamily="34" charset="0"/>
                <a:cs typeface="Calibri" panose="020F0502020204030204" pitchFamily="34" charset="0"/>
              </a:rPr>
              <a:t>Unit Price </a:t>
            </a:r>
          </a:p>
          <a:p>
            <a:pPr marL="0" indent="0">
              <a:buNone/>
            </a:pPr>
            <a:r>
              <a:rPr lang="en-IN" sz="1800" b="1" dirty="0">
                <a:latin typeface="Calibri" panose="020F0502020204030204" pitchFamily="34" charset="0"/>
                <a:ea typeface="Calibri" panose="020F0502020204030204" pitchFamily="34" charset="0"/>
                <a:cs typeface="Calibri" panose="020F0502020204030204" pitchFamily="34" charset="0"/>
              </a:rPr>
              <a:t>Sales Information</a:t>
            </a:r>
          </a:p>
          <a:p>
            <a:r>
              <a:rPr lang="en-IN" sz="1800" dirty="0">
                <a:latin typeface="Calibri" panose="020F0502020204030204" pitchFamily="34" charset="0"/>
                <a:ea typeface="Calibri" panose="020F0502020204030204" pitchFamily="34" charset="0"/>
                <a:cs typeface="Calibri" panose="020F0502020204030204" pitchFamily="34" charset="0"/>
              </a:rPr>
              <a:t>Invoice Number </a:t>
            </a:r>
          </a:p>
          <a:p>
            <a:r>
              <a:rPr lang="en-IN" sz="1800" dirty="0">
                <a:latin typeface="Calibri" panose="020F0502020204030204" pitchFamily="34" charset="0"/>
                <a:ea typeface="Calibri" panose="020F0502020204030204" pitchFamily="34" charset="0"/>
                <a:cs typeface="Calibri" panose="020F0502020204030204" pitchFamily="34" charset="0"/>
              </a:rPr>
              <a:t>Invoice Date</a:t>
            </a:r>
          </a:p>
        </p:txBody>
      </p:sp>
    </p:spTree>
    <p:extLst>
      <p:ext uri="{BB962C8B-B14F-4D97-AF65-F5344CB8AC3E}">
        <p14:creationId xmlns:p14="http://schemas.microsoft.com/office/powerpoint/2010/main" val="3425338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9D5B-FC5D-9749-CE3A-3798436FB1F1}"/>
              </a:ext>
            </a:extLst>
          </p:cNvPr>
          <p:cNvSpPr>
            <a:spLocks noGrp="1"/>
          </p:cNvSpPr>
          <p:nvPr>
            <p:ph type="ctrTitle"/>
          </p:nvPr>
        </p:nvSpPr>
        <p:spPr/>
        <p:txBody>
          <a:bodyPr>
            <a:normAutofit/>
          </a:bodyPr>
          <a:lstStyle/>
          <a:p>
            <a:r>
              <a:rPr lang="en-IN" sz="200" dirty="0"/>
              <a:t>.</a:t>
            </a:r>
          </a:p>
        </p:txBody>
      </p:sp>
      <p:sp>
        <p:nvSpPr>
          <p:cNvPr id="3" name="Subtitle 2">
            <a:extLst>
              <a:ext uri="{FF2B5EF4-FFF2-40B4-BE49-F238E27FC236}">
                <a16:creationId xmlns:a16="http://schemas.microsoft.com/office/drawing/2014/main" id="{60B9459C-2AC4-26DA-4BED-F0628A564743}"/>
              </a:ext>
            </a:extLst>
          </p:cNvPr>
          <p:cNvSpPr>
            <a:spLocks noGrp="1"/>
          </p:cNvSpPr>
          <p:nvPr>
            <p:ph type="subTitle" idx="1"/>
          </p:nvPr>
        </p:nvSpPr>
        <p:spPr>
          <a:xfrm>
            <a:off x="0" y="-1"/>
            <a:ext cx="12192000" cy="6757851"/>
          </a:xfrm>
        </p:spPr>
        <p:txBody>
          <a:bodyPr>
            <a:normAutofit fontScale="77500" lnSpcReduction="20000"/>
          </a:bodyPr>
          <a:lstStyle/>
          <a:p>
            <a:endParaRPr lang="en-IN" b="1" dirty="0"/>
          </a:p>
          <a:p>
            <a:pPr algn="l"/>
            <a:r>
              <a:rPr lang="en-IN" sz="2600" b="1" dirty="0">
                <a:latin typeface="Calibri" panose="020F0502020204030204" pitchFamily="34" charset="0"/>
                <a:ea typeface="Calibri" panose="020F0502020204030204" pitchFamily="34" charset="0"/>
                <a:cs typeface="Calibri" panose="020F0502020204030204" pitchFamily="34" charset="0"/>
              </a:rPr>
              <a:t>Sales Information</a:t>
            </a:r>
          </a:p>
          <a:p>
            <a:pPr marL="342900" indent="-342900" algn="l">
              <a:buFont typeface="Arial" panose="020B0604020202020204" pitchFamily="34" charset="0"/>
              <a:buChar char="•"/>
            </a:pPr>
            <a:r>
              <a:rPr lang="en-IN" sz="2200" dirty="0">
                <a:latin typeface="Calibri" panose="020F0502020204030204" pitchFamily="34" charset="0"/>
                <a:ea typeface="Calibri" panose="020F0502020204030204" pitchFamily="34" charset="0"/>
                <a:cs typeface="Calibri" panose="020F0502020204030204" pitchFamily="34" charset="0"/>
              </a:rPr>
              <a:t>Invoice Number </a:t>
            </a:r>
          </a:p>
          <a:p>
            <a:pPr marL="342900" indent="-342900" algn="l">
              <a:buFont typeface="Arial" panose="020B0604020202020204" pitchFamily="34" charset="0"/>
              <a:buChar char="•"/>
            </a:pPr>
            <a:r>
              <a:rPr lang="en-IN" sz="2200" dirty="0">
                <a:latin typeface="Calibri" panose="020F0502020204030204" pitchFamily="34" charset="0"/>
                <a:ea typeface="Calibri" panose="020F0502020204030204" pitchFamily="34" charset="0"/>
                <a:cs typeface="Calibri" panose="020F0502020204030204" pitchFamily="34" charset="0"/>
              </a:rPr>
              <a:t>Invoice Date </a:t>
            </a:r>
          </a:p>
          <a:p>
            <a:pPr marL="342900" indent="-342900" algn="l">
              <a:buFont typeface="Arial" panose="020B0604020202020204" pitchFamily="34" charset="0"/>
              <a:buChar char="•"/>
            </a:pPr>
            <a:r>
              <a:rPr lang="en-IN" sz="2200" dirty="0">
                <a:latin typeface="Calibri" panose="020F0502020204030204" pitchFamily="34" charset="0"/>
                <a:ea typeface="Calibri" panose="020F0502020204030204" pitchFamily="34" charset="0"/>
                <a:cs typeface="Calibri" panose="020F0502020204030204" pitchFamily="34" charset="0"/>
              </a:rPr>
              <a:t>Quantity Sold</a:t>
            </a:r>
            <a:endParaRPr lang="en-IN" sz="2200" b="1" dirty="0">
              <a:latin typeface="Calibri" panose="020F0502020204030204" pitchFamily="34" charset="0"/>
              <a:ea typeface="Calibri" panose="020F0502020204030204" pitchFamily="34" charset="0"/>
              <a:cs typeface="Calibri" panose="020F0502020204030204" pitchFamily="34" charset="0"/>
            </a:endParaRPr>
          </a:p>
          <a:p>
            <a:pPr algn="l"/>
            <a:r>
              <a:rPr lang="en-IN" sz="2600" b="1" dirty="0">
                <a:latin typeface="Calibri" panose="020F0502020204030204" pitchFamily="34" charset="0"/>
                <a:ea typeface="Calibri" panose="020F0502020204030204" pitchFamily="34" charset="0"/>
                <a:cs typeface="Calibri" panose="020F0502020204030204" pitchFamily="34" charset="0"/>
              </a:rPr>
              <a:t>Financial Information</a:t>
            </a:r>
          </a:p>
          <a:p>
            <a:pPr marL="342900" indent="-342900" algn="l">
              <a:buFont typeface="Arial" panose="020B0604020202020204" pitchFamily="34" charset="0"/>
              <a:buChar char="•"/>
            </a:pPr>
            <a:r>
              <a:rPr lang="en-IN" sz="2200" dirty="0">
                <a:latin typeface="Calibri" panose="020F0502020204030204" pitchFamily="34" charset="0"/>
                <a:ea typeface="Calibri" panose="020F0502020204030204" pitchFamily="34" charset="0"/>
                <a:cs typeface="Calibri" panose="020F0502020204030204" pitchFamily="34" charset="0"/>
              </a:rPr>
              <a:t>Revenue </a:t>
            </a:r>
          </a:p>
          <a:p>
            <a:pPr marL="342900" indent="-342900" algn="l">
              <a:buFont typeface="Arial" panose="020B0604020202020204" pitchFamily="34" charset="0"/>
              <a:buChar char="•"/>
            </a:pPr>
            <a:r>
              <a:rPr lang="en-IN" sz="2200" dirty="0">
                <a:latin typeface="Calibri" panose="020F0502020204030204" pitchFamily="34" charset="0"/>
                <a:ea typeface="Calibri" panose="020F0502020204030204" pitchFamily="34" charset="0"/>
                <a:cs typeface="Calibri" panose="020F0502020204030204" pitchFamily="34" charset="0"/>
              </a:rPr>
              <a:t>Sales Performance Metrics </a:t>
            </a:r>
          </a:p>
          <a:p>
            <a:pPr marL="342900" indent="-342900" algn="l">
              <a:buFont typeface="Arial" panose="020B0604020202020204" pitchFamily="34" charset="0"/>
              <a:buChar char="•"/>
            </a:pPr>
            <a:r>
              <a:rPr lang="en-IN" sz="2200" dirty="0">
                <a:latin typeface="Calibri" panose="020F0502020204030204" pitchFamily="34" charset="0"/>
                <a:ea typeface="Calibri" panose="020F0502020204030204" pitchFamily="34" charset="0"/>
                <a:cs typeface="Calibri" panose="020F0502020204030204" pitchFamily="34" charset="0"/>
              </a:rPr>
              <a:t>Average Order Value </a:t>
            </a:r>
          </a:p>
          <a:p>
            <a:pPr algn="l"/>
            <a:r>
              <a:rPr lang="en-IN" sz="2600" b="1" dirty="0">
                <a:latin typeface="Calibri" panose="020F0502020204030204" pitchFamily="34" charset="0"/>
                <a:ea typeface="Calibri" panose="020F0502020204030204" pitchFamily="34" charset="0"/>
                <a:cs typeface="Calibri" panose="020F0502020204030204" pitchFamily="34" charset="0"/>
              </a:rPr>
              <a:t>Transaction Information</a:t>
            </a:r>
          </a:p>
          <a:p>
            <a:pPr marL="342900" indent="-342900" algn="l">
              <a:buFont typeface="Arial" panose="020B0604020202020204" pitchFamily="34" charset="0"/>
              <a:buChar char="•"/>
            </a:pPr>
            <a:r>
              <a:rPr lang="en-IN" sz="2200" dirty="0">
                <a:latin typeface="Calibri" panose="020F0502020204030204" pitchFamily="34" charset="0"/>
                <a:ea typeface="Calibri" panose="020F0502020204030204" pitchFamily="34" charset="0"/>
                <a:cs typeface="Calibri" panose="020F0502020204030204" pitchFamily="34" charset="0"/>
              </a:rPr>
              <a:t>Order Details </a:t>
            </a:r>
          </a:p>
          <a:p>
            <a:pPr marL="342900" indent="-342900" algn="l">
              <a:buFont typeface="Arial" panose="020B0604020202020204" pitchFamily="34" charset="0"/>
              <a:buChar char="•"/>
            </a:pPr>
            <a:r>
              <a:rPr lang="en-IN" sz="2200" dirty="0">
                <a:latin typeface="Calibri" panose="020F0502020204030204" pitchFamily="34" charset="0"/>
                <a:ea typeface="Calibri" panose="020F0502020204030204" pitchFamily="34" charset="0"/>
                <a:cs typeface="Calibri" panose="020F0502020204030204" pitchFamily="34" charset="0"/>
              </a:rPr>
              <a:t>Product Purchases </a:t>
            </a:r>
          </a:p>
          <a:p>
            <a:pPr marL="342900" indent="-342900" algn="l">
              <a:buFont typeface="Arial" panose="020B0604020202020204" pitchFamily="34" charset="0"/>
              <a:buChar char="•"/>
            </a:pPr>
            <a:r>
              <a:rPr lang="en-IN" sz="2200" dirty="0">
                <a:latin typeface="Calibri" panose="020F0502020204030204" pitchFamily="34" charset="0"/>
                <a:ea typeface="Calibri" panose="020F0502020204030204" pitchFamily="34" charset="0"/>
                <a:cs typeface="Calibri" panose="020F0502020204030204" pitchFamily="34" charset="0"/>
              </a:rPr>
              <a:t>Customer Transactions </a:t>
            </a:r>
          </a:p>
          <a:p>
            <a:pPr algn="l"/>
            <a:r>
              <a:rPr lang="en-IN" sz="2200" dirty="0">
                <a:latin typeface="Calibri" panose="020F0502020204030204" pitchFamily="34" charset="0"/>
                <a:ea typeface="Calibri" panose="020F0502020204030204" pitchFamily="34" charset="0"/>
                <a:cs typeface="Calibri" panose="020F0502020204030204" pitchFamily="34" charset="0"/>
              </a:rPr>
              <a:t>This dataset was used to </a:t>
            </a:r>
            <a:r>
              <a:rPr lang="en-IN" sz="2200" dirty="0" err="1">
                <a:latin typeface="Calibri" panose="020F0502020204030204" pitchFamily="34" charset="0"/>
                <a:ea typeface="Calibri" panose="020F0502020204030204" pitchFamily="34" charset="0"/>
                <a:cs typeface="Calibri" panose="020F0502020204030204" pitchFamily="34" charset="0"/>
              </a:rPr>
              <a:t>analyze</a:t>
            </a:r>
            <a:r>
              <a:rPr lang="en-IN" sz="2200" dirty="0">
                <a:latin typeface="Calibri" panose="020F0502020204030204" pitchFamily="34" charset="0"/>
                <a:ea typeface="Calibri" panose="020F0502020204030204" pitchFamily="34" charset="0"/>
                <a:cs typeface="Calibri" panose="020F0502020204030204" pitchFamily="34" charset="0"/>
              </a:rPr>
              <a:t> sales trends, customer </a:t>
            </a:r>
            <a:r>
              <a:rPr lang="en-IN" sz="2200" dirty="0" err="1">
                <a:latin typeface="Calibri" panose="020F0502020204030204" pitchFamily="34" charset="0"/>
                <a:ea typeface="Calibri" panose="020F0502020204030204" pitchFamily="34" charset="0"/>
                <a:cs typeface="Calibri" panose="020F0502020204030204" pitchFamily="34" charset="0"/>
              </a:rPr>
              <a:t>behavior</a:t>
            </a:r>
            <a:r>
              <a:rPr lang="en-IN" sz="2200" dirty="0">
                <a:latin typeface="Calibri" panose="020F0502020204030204" pitchFamily="34" charset="0"/>
                <a:ea typeface="Calibri" panose="020F0502020204030204" pitchFamily="34" charset="0"/>
                <a:cs typeface="Calibri" panose="020F0502020204030204" pitchFamily="34" charset="0"/>
              </a:rPr>
              <a:t>, product performance, and revenue generation.</a:t>
            </a:r>
          </a:p>
          <a:p>
            <a:pPr algn="l"/>
            <a:r>
              <a:rPr lang="en-IN" sz="2600" b="1" dirty="0">
                <a:latin typeface="Calibri" panose="020F0502020204030204" pitchFamily="34" charset="0"/>
                <a:ea typeface="Calibri" panose="020F0502020204030204" pitchFamily="34" charset="0"/>
                <a:cs typeface="Calibri" panose="020F0502020204030204" pitchFamily="34" charset="0"/>
              </a:rPr>
              <a:t>Importance of Data Quality</a:t>
            </a:r>
          </a:p>
          <a:p>
            <a:pPr algn="l"/>
            <a:r>
              <a:rPr lang="en-IN" sz="2200" dirty="0">
                <a:latin typeface="Calibri" panose="020F0502020204030204" pitchFamily="34" charset="0"/>
                <a:ea typeface="Calibri" panose="020F0502020204030204" pitchFamily="34" charset="0"/>
                <a:cs typeface="Calibri" panose="020F0502020204030204" pitchFamily="34" charset="0"/>
              </a:rPr>
              <a:t>High-quality data ensures accurate analysis and reliable business insights.</a:t>
            </a:r>
          </a:p>
          <a:p>
            <a:pPr marL="342900" indent="-342900" algn="l">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53835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83D95-670F-FD96-C0E4-A43743B9F0BC}"/>
              </a:ext>
            </a:extLst>
          </p:cNvPr>
          <p:cNvSpPr>
            <a:spLocks noGrp="1"/>
          </p:cNvSpPr>
          <p:nvPr>
            <p:ph type="title"/>
          </p:nvPr>
        </p:nvSpPr>
        <p:spPr>
          <a:xfrm>
            <a:off x="121920" y="0"/>
            <a:ext cx="12070079" cy="722811"/>
          </a:xfrm>
        </p:spPr>
        <p:txBody>
          <a:bodyPr>
            <a:norm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Current State Analysis</a:t>
            </a:r>
          </a:p>
        </p:txBody>
      </p:sp>
      <p:sp>
        <p:nvSpPr>
          <p:cNvPr id="3" name="Content Placeholder 2">
            <a:extLst>
              <a:ext uri="{FF2B5EF4-FFF2-40B4-BE49-F238E27FC236}">
                <a16:creationId xmlns:a16="http://schemas.microsoft.com/office/drawing/2014/main" id="{709ABCC4-C84D-20F1-1D2B-47B43C14A070}"/>
              </a:ext>
            </a:extLst>
          </p:cNvPr>
          <p:cNvSpPr>
            <a:spLocks noGrp="1"/>
          </p:cNvSpPr>
          <p:nvPr>
            <p:ph idx="1"/>
          </p:nvPr>
        </p:nvSpPr>
        <p:spPr>
          <a:xfrm>
            <a:off x="182880" y="424542"/>
            <a:ext cx="12009119" cy="6008915"/>
          </a:xfrm>
        </p:spPr>
        <p:txBody>
          <a:bodyPr>
            <a:normAutofit fontScale="25000" lnSpcReduction="20000"/>
          </a:bodyPr>
          <a:lstStyle/>
          <a:p>
            <a:pPr>
              <a:buFont typeface="Wingdings" panose="05000000000000000000" pitchFamily="2" charset="2"/>
              <a:buChar char="q"/>
            </a:pPr>
            <a:r>
              <a:rPr lang="en-IN" sz="6800" b="1" dirty="0">
                <a:latin typeface="Calibri" panose="020F0502020204030204" pitchFamily="34" charset="0"/>
                <a:ea typeface="Calibri" panose="020F0502020204030204" pitchFamily="34" charset="0"/>
                <a:cs typeface="Calibri" panose="020F0502020204030204" pitchFamily="34" charset="0"/>
              </a:rPr>
              <a:t>Existing Business Process</a:t>
            </a:r>
          </a:p>
          <a:p>
            <a:pPr algn="just"/>
            <a:r>
              <a:rPr lang="en-IN" sz="6800" dirty="0">
                <a:latin typeface="Calibri" panose="020F0502020204030204" pitchFamily="34" charset="0"/>
                <a:ea typeface="Calibri" panose="020F0502020204030204" pitchFamily="34" charset="0"/>
                <a:cs typeface="Calibri" panose="020F0502020204030204" pitchFamily="34" charset="0"/>
              </a:rPr>
              <a:t>The organization primarily relied on manual reporting methods and spreadsheet-based analysis to monitor sales performance, customer </a:t>
            </a:r>
            <a:r>
              <a:rPr lang="en-IN" sz="6800" dirty="0" err="1">
                <a:latin typeface="Calibri" panose="020F0502020204030204" pitchFamily="34" charset="0"/>
                <a:ea typeface="Calibri" panose="020F0502020204030204" pitchFamily="34" charset="0"/>
                <a:cs typeface="Calibri" panose="020F0502020204030204" pitchFamily="34" charset="0"/>
              </a:rPr>
              <a:t>behavior</a:t>
            </a:r>
            <a:r>
              <a:rPr lang="en-IN" sz="6800" dirty="0">
                <a:latin typeface="Calibri" panose="020F0502020204030204" pitchFamily="34" charset="0"/>
                <a:ea typeface="Calibri" panose="020F0502020204030204" pitchFamily="34" charset="0"/>
                <a:cs typeface="Calibri" panose="020F0502020204030204" pitchFamily="34" charset="0"/>
              </a:rPr>
              <a:t>, and product profitability.</a:t>
            </a:r>
          </a:p>
          <a:p>
            <a:r>
              <a:rPr lang="en-IN" sz="6800" b="1" dirty="0">
                <a:latin typeface="Calibri" panose="020F0502020204030204" pitchFamily="34" charset="0"/>
                <a:ea typeface="Calibri" panose="020F0502020204030204" pitchFamily="34" charset="0"/>
                <a:cs typeface="Calibri" panose="020F0502020204030204" pitchFamily="34" charset="0"/>
              </a:rPr>
              <a:t>Current Challenges</a:t>
            </a:r>
          </a:p>
          <a:p>
            <a:r>
              <a:rPr lang="en-IN" sz="6800" dirty="0">
                <a:latin typeface="Calibri" panose="020F0502020204030204" pitchFamily="34" charset="0"/>
                <a:ea typeface="Calibri" panose="020F0502020204030204" pitchFamily="34" charset="0"/>
                <a:cs typeface="Calibri" panose="020F0502020204030204" pitchFamily="34" charset="0"/>
              </a:rPr>
              <a:t>No centralized sales analytics system </a:t>
            </a:r>
          </a:p>
          <a:p>
            <a:r>
              <a:rPr lang="en-IN" sz="6800" dirty="0">
                <a:latin typeface="Calibri" panose="020F0502020204030204" pitchFamily="34" charset="0"/>
                <a:ea typeface="Calibri" panose="020F0502020204030204" pitchFamily="34" charset="0"/>
                <a:cs typeface="Calibri" panose="020F0502020204030204" pitchFamily="34" charset="0"/>
              </a:rPr>
              <a:t>Manual report generation and KPI calculations </a:t>
            </a:r>
          </a:p>
          <a:p>
            <a:r>
              <a:rPr lang="en-IN" sz="6800" dirty="0">
                <a:latin typeface="Calibri" panose="020F0502020204030204" pitchFamily="34" charset="0"/>
                <a:ea typeface="Calibri" panose="020F0502020204030204" pitchFamily="34" charset="0"/>
                <a:cs typeface="Calibri" panose="020F0502020204030204" pitchFamily="34" charset="0"/>
              </a:rPr>
              <a:t>Limited visibility into customer purchasing </a:t>
            </a:r>
            <a:r>
              <a:rPr lang="en-IN" sz="6800" dirty="0" err="1">
                <a:latin typeface="Calibri" panose="020F0502020204030204" pitchFamily="34" charset="0"/>
                <a:ea typeface="Calibri" panose="020F0502020204030204" pitchFamily="34" charset="0"/>
                <a:cs typeface="Calibri" panose="020F0502020204030204" pitchFamily="34" charset="0"/>
              </a:rPr>
              <a:t>behavior</a:t>
            </a:r>
            <a:r>
              <a:rPr lang="en-IN" sz="6800" dirty="0">
                <a:latin typeface="Calibri" panose="020F0502020204030204" pitchFamily="34" charset="0"/>
                <a:ea typeface="Calibri" panose="020F0502020204030204" pitchFamily="34" charset="0"/>
                <a:cs typeface="Calibri" panose="020F0502020204030204" pitchFamily="34" charset="0"/>
              </a:rPr>
              <a:t> </a:t>
            </a:r>
          </a:p>
          <a:p>
            <a:r>
              <a:rPr lang="en-IN" sz="6800" dirty="0">
                <a:latin typeface="Calibri" panose="020F0502020204030204" pitchFamily="34" charset="0"/>
                <a:ea typeface="Calibri" panose="020F0502020204030204" pitchFamily="34" charset="0"/>
                <a:cs typeface="Calibri" panose="020F0502020204030204" pitchFamily="34" charset="0"/>
              </a:rPr>
              <a:t>Difficulty identifying top-performing products and customers </a:t>
            </a:r>
          </a:p>
          <a:p>
            <a:r>
              <a:rPr lang="en-IN" sz="6800" dirty="0">
                <a:latin typeface="Calibri" panose="020F0502020204030204" pitchFamily="34" charset="0"/>
                <a:ea typeface="Calibri" panose="020F0502020204030204" pitchFamily="34" charset="0"/>
                <a:cs typeface="Calibri" panose="020F0502020204030204" pitchFamily="34" charset="0"/>
              </a:rPr>
              <a:t>Delayed business insights and decision-making </a:t>
            </a:r>
          </a:p>
          <a:p>
            <a:r>
              <a:rPr lang="en-IN" sz="6800" b="1" dirty="0">
                <a:latin typeface="Calibri" panose="020F0502020204030204" pitchFamily="34" charset="0"/>
                <a:ea typeface="Calibri" panose="020F0502020204030204" pitchFamily="34" charset="0"/>
                <a:cs typeface="Calibri" panose="020F0502020204030204" pitchFamily="34" charset="0"/>
              </a:rPr>
              <a:t>Impact on Business</a:t>
            </a:r>
          </a:p>
          <a:p>
            <a:r>
              <a:rPr lang="en-IN" sz="6800" dirty="0">
                <a:latin typeface="Calibri" panose="020F0502020204030204" pitchFamily="34" charset="0"/>
                <a:ea typeface="Calibri" panose="020F0502020204030204" pitchFamily="34" charset="0"/>
                <a:cs typeface="Calibri" panose="020F0502020204030204" pitchFamily="34" charset="0"/>
              </a:rPr>
              <a:t>Time-consuming reporting process </a:t>
            </a:r>
          </a:p>
          <a:p>
            <a:r>
              <a:rPr lang="en-IN" sz="6800" dirty="0">
                <a:latin typeface="Calibri" panose="020F0502020204030204" pitchFamily="34" charset="0"/>
                <a:ea typeface="Calibri" panose="020F0502020204030204" pitchFamily="34" charset="0"/>
                <a:cs typeface="Calibri" panose="020F0502020204030204" pitchFamily="34" charset="0"/>
              </a:rPr>
              <a:t>Delayed business decisions </a:t>
            </a:r>
          </a:p>
          <a:p>
            <a:r>
              <a:rPr lang="en-IN" sz="6800" dirty="0">
                <a:latin typeface="Calibri" panose="020F0502020204030204" pitchFamily="34" charset="0"/>
                <a:ea typeface="Calibri" panose="020F0502020204030204" pitchFamily="34" charset="0"/>
                <a:cs typeface="Calibri" panose="020F0502020204030204" pitchFamily="34" charset="0"/>
              </a:rPr>
              <a:t>Limited understanding of customer trends </a:t>
            </a:r>
          </a:p>
          <a:p>
            <a:r>
              <a:rPr lang="en-IN" sz="6800" dirty="0">
                <a:latin typeface="Calibri" panose="020F0502020204030204" pitchFamily="34" charset="0"/>
                <a:ea typeface="Calibri" panose="020F0502020204030204" pitchFamily="34" charset="0"/>
                <a:cs typeface="Calibri" panose="020F0502020204030204" pitchFamily="34" charset="0"/>
              </a:rPr>
              <a:t>Reduced visibility into revenue opportunities </a:t>
            </a:r>
          </a:p>
          <a:p>
            <a:pPr>
              <a:buFont typeface="Wingdings" panose="05000000000000000000" pitchFamily="2" charset="2"/>
              <a:buChar char="q"/>
            </a:pPr>
            <a:r>
              <a:rPr lang="en-IN" sz="6800" b="1" dirty="0">
                <a:latin typeface="Calibri" panose="020F0502020204030204" pitchFamily="34" charset="0"/>
                <a:ea typeface="Calibri" panose="020F0502020204030204" pitchFamily="34" charset="0"/>
                <a:cs typeface="Calibri" panose="020F0502020204030204" pitchFamily="34" charset="0"/>
              </a:rPr>
              <a:t>Observation</a:t>
            </a:r>
          </a:p>
          <a:p>
            <a:pPr algn="just"/>
            <a:r>
              <a:rPr lang="en-IN" sz="6800" dirty="0">
                <a:latin typeface="Calibri" panose="020F0502020204030204" pitchFamily="34" charset="0"/>
                <a:ea typeface="Calibri" panose="020F0502020204030204" pitchFamily="34" charset="0"/>
                <a:cs typeface="Calibri" panose="020F0502020204030204" pitchFamily="34" charset="0"/>
              </a:rPr>
              <a:t>The existing process focused on </a:t>
            </a:r>
            <a:r>
              <a:rPr lang="en-IN" sz="6800" dirty="0" err="1">
                <a:latin typeface="Calibri" panose="020F0502020204030204" pitchFamily="34" charset="0"/>
                <a:ea typeface="Calibri" panose="020F0502020204030204" pitchFamily="34" charset="0"/>
                <a:cs typeface="Calibri" panose="020F0502020204030204" pitchFamily="34" charset="0"/>
              </a:rPr>
              <a:t>analyzing</a:t>
            </a:r>
            <a:r>
              <a:rPr lang="en-IN" sz="6800" dirty="0">
                <a:latin typeface="Calibri" panose="020F0502020204030204" pitchFamily="34" charset="0"/>
                <a:ea typeface="Calibri" panose="020F0502020204030204" pitchFamily="34" charset="0"/>
                <a:cs typeface="Calibri" panose="020F0502020204030204" pitchFamily="34" charset="0"/>
              </a:rPr>
              <a:t> historical sales data through manual reports rather than providing real-time business insights and proactive decision support through interactive analytics dashboards.</a:t>
            </a:r>
          </a:p>
          <a:p>
            <a:endParaRPr lang="en-IN" dirty="0"/>
          </a:p>
        </p:txBody>
      </p:sp>
    </p:spTree>
    <p:extLst>
      <p:ext uri="{BB962C8B-B14F-4D97-AF65-F5344CB8AC3E}">
        <p14:creationId xmlns:p14="http://schemas.microsoft.com/office/powerpoint/2010/main" val="3427911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0ED47-0020-E18D-8E98-38D78A6DAC42}"/>
              </a:ext>
            </a:extLst>
          </p:cNvPr>
          <p:cNvSpPr>
            <a:spLocks noGrp="1"/>
          </p:cNvSpPr>
          <p:nvPr>
            <p:ph type="ctrTitle"/>
          </p:nvPr>
        </p:nvSpPr>
        <p:spPr>
          <a:xfrm>
            <a:off x="0" y="1"/>
            <a:ext cx="12078789" cy="687976"/>
          </a:xfrm>
        </p:spPr>
        <p:txBody>
          <a:bodyPr>
            <a:norm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Future State Analysis(To-be)</a:t>
            </a:r>
          </a:p>
        </p:txBody>
      </p:sp>
      <p:sp>
        <p:nvSpPr>
          <p:cNvPr id="3" name="Subtitle 2">
            <a:extLst>
              <a:ext uri="{FF2B5EF4-FFF2-40B4-BE49-F238E27FC236}">
                <a16:creationId xmlns:a16="http://schemas.microsoft.com/office/drawing/2014/main" id="{65F4A612-EC35-5ECB-E050-BD85357270B5}"/>
              </a:ext>
            </a:extLst>
          </p:cNvPr>
          <p:cNvSpPr>
            <a:spLocks noGrp="1"/>
          </p:cNvSpPr>
          <p:nvPr>
            <p:ph type="subTitle" idx="1"/>
          </p:nvPr>
        </p:nvSpPr>
        <p:spPr>
          <a:xfrm>
            <a:off x="113211" y="687977"/>
            <a:ext cx="12078788" cy="6170023"/>
          </a:xfrm>
        </p:spPr>
        <p:txBody>
          <a:bodyPr>
            <a:normAutofit fontScale="62500" lnSpcReduction="20000"/>
          </a:bodyPr>
          <a:lstStyle/>
          <a:p>
            <a:pPr algn="l"/>
            <a:r>
              <a:rPr lang="en-IN" sz="3200" b="1" dirty="0">
                <a:latin typeface="Calibri" panose="020F0502020204030204" pitchFamily="34" charset="0"/>
                <a:ea typeface="Calibri" panose="020F0502020204030204" pitchFamily="34" charset="0"/>
                <a:cs typeface="Calibri" panose="020F0502020204030204" pitchFamily="34" charset="0"/>
              </a:rPr>
              <a:t>Proposed Future Process</a:t>
            </a:r>
          </a:p>
          <a:p>
            <a:pPr algn="l"/>
            <a:r>
              <a:rPr lang="en-IN" dirty="0"/>
              <a:t>The proposed solution establishes a centralized analytics framework that enables automated reporting, business monitoring, and data-driven decision-making through Python, MySQL, and Power BI.</a:t>
            </a:r>
          </a:p>
          <a:p>
            <a:pPr algn="l"/>
            <a:r>
              <a:rPr lang="en-IN" sz="3000" b="1" dirty="0"/>
              <a:t>Proposed Improvements</a:t>
            </a:r>
          </a:p>
          <a:p>
            <a:pPr marL="342900" indent="-342900" algn="l">
              <a:buFont typeface="Arial" panose="020B0604020202020204" pitchFamily="34" charset="0"/>
              <a:buChar char="•"/>
            </a:pPr>
            <a:r>
              <a:rPr lang="en-IN" dirty="0"/>
              <a:t>Automated sales and revenue monitoring </a:t>
            </a:r>
          </a:p>
          <a:p>
            <a:pPr marL="342900" indent="-342900" algn="l">
              <a:buFont typeface="Arial" panose="020B0604020202020204" pitchFamily="34" charset="0"/>
              <a:buChar char="•"/>
            </a:pPr>
            <a:r>
              <a:rPr lang="en-IN" dirty="0"/>
              <a:t>Interactive Power BI dashboards </a:t>
            </a:r>
          </a:p>
          <a:p>
            <a:pPr marL="342900" indent="-342900" algn="l">
              <a:buFont typeface="Arial" panose="020B0604020202020204" pitchFamily="34" charset="0"/>
              <a:buChar char="•"/>
            </a:pPr>
            <a:r>
              <a:rPr lang="en-IN" dirty="0"/>
              <a:t>Customer segmentation and </a:t>
            </a:r>
            <a:r>
              <a:rPr lang="en-IN" dirty="0" err="1"/>
              <a:t>behavior</a:t>
            </a:r>
            <a:r>
              <a:rPr lang="en-IN" dirty="0"/>
              <a:t> analysis </a:t>
            </a:r>
          </a:p>
          <a:p>
            <a:pPr marL="342900" indent="-342900" algn="l">
              <a:buFont typeface="Arial" panose="020B0604020202020204" pitchFamily="34" charset="0"/>
              <a:buChar char="•"/>
            </a:pPr>
            <a:r>
              <a:rPr lang="en-IN" dirty="0"/>
              <a:t>Product performance tracking </a:t>
            </a:r>
          </a:p>
          <a:p>
            <a:pPr marL="342900" indent="-342900" algn="l">
              <a:buFont typeface="Arial" panose="020B0604020202020204" pitchFamily="34" charset="0"/>
              <a:buChar char="•"/>
            </a:pPr>
            <a:r>
              <a:rPr lang="en-IN" dirty="0"/>
              <a:t>Centralized analytics and reporting system </a:t>
            </a:r>
          </a:p>
          <a:p>
            <a:pPr algn="l"/>
            <a:r>
              <a:rPr lang="en-IN" b="1" dirty="0"/>
              <a:t>Expected Benefits</a:t>
            </a:r>
          </a:p>
          <a:p>
            <a:pPr marL="342900" indent="-342900" algn="l">
              <a:buFont typeface="Arial" panose="020B0604020202020204" pitchFamily="34" charset="0"/>
              <a:buChar char="•"/>
            </a:pPr>
            <a:r>
              <a:rPr lang="en-IN" dirty="0"/>
              <a:t>Faster access to business insights </a:t>
            </a:r>
          </a:p>
          <a:p>
            <a:pPr marL="342900" indent="-342900" algn="l">
              <a:buFont typeface="Arial" panose="020B0604020202020204" pitchFamily="34" charset="0"/>
              <a:buChar char="•"/>
            </a:pPr>
            <a:r>
              <a:rPr lang="en-IN" dirty="0"/>
              <a:t>Improved visibility into customer and product performance </a:t>
            </a:r>
          </a:p>
          <a:p>
            <a:pPr marL="342900" indent="-342900" algn="l">
              <a:buFont typeface="Arial" panose="020B0604020202020204" pitchFamily="34" charset="0"/>
              <a:buChar char="•"/>
            </a:pPr>
            <a:r>
              <a:rPr lang="en-IN" dirty="0"/>
              <a:t>Enhanced decision-making through KPI tracking </a:t>
            </a:r>
          </a:p>
          <a:p>
            <a:pPr marL="342900" indent="-342900" algn="l">
              <a:buFont typeface="Arial" panose="020B0604020202020204" pitchFamily="34" charset="0"/>
              <a:buChar char="•"/>
            </a:pPr>
            <a:r>
              <a:rPr lang="en-IN" dirty="0"/>
              <a:t>Reduced manual reporting effort </a:t>
            </a:r>
          </a:p>
          <a:p>
            <a:pPr algn="l"/>
            <a:r>
              <a:rPr lang="en-IN" b="1" dirty="0"/>
              <a:t>Strategic Advantage</a:t>
            </a:r>
          </a:p>
          <a:p>
            <a:pPr marL="342900" indent="-342900" algn="l">
              <a:buFont typeface="Arial" panose="020B0604020202020204" pitchFamily="34" charset="0"/>
              <a:buChar char="•"/>
            </a:pPr>
            <a:r>
              <a:rPr lang="en-IN" dirty="0"/>
              <a:t>The organization will transition from manual, reactive reporting to a proactive, analytics-driven decision-making approach, enabling stakeholders to respond quickly to business trends and growth opportunities.</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45904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41E8-0812-9268-4B47-430295334422}"/>
              </a:ext>
            </a:extLst>
          </p:cNvPr>
          <p:cNvSpPr>
            <a:spLocks noGrp="1"/>
          </p:cNvSpPr>
          <p:nvPr>
            <p:ph type="title"/>
          </p:nvPr>
        </p:nvSpPr>
        <p:spPr>
          <a:xfrm>
            <a:off x="0" y="1"/>
            <a:ext cx="12191999" cy="792479"/>
          </a:xfrm>
        </p:spPr>
        <p:txBody>
          <a:bodyPr/>
          <a:lstStyle/>
          <a:p>
            <a:r>
              <a:rPr lang="en-IN" dirty="0"/>
              <a:t>Gap analysis</a:t>
            </a:r>
          </a:p>
        </p:txBody>
      </p:sp>
      <p:sp>
        <p:nvSpPr>
          <p:cNvPr id="3" name="Content Placeholder 2">
            <a:extLst>
              <a:ext uri="{FF2B5EF4-FFF2-40B4-BE49-F238E27FC236}">
                <a16:creationId xmlns:a16="http://schemas.microsoft.com/office/drawing/2014/main" id="{692102CF-B562-5CCF-0DAF-6A35EDBD21DB}"/>
              </a:ext>
            </a:extLst>
          </p:cNvPr>
          <p:cNvSpPr>
            <a:spLocks noGrp="1"/>
          </p:cNvSpPr>
          <p:nvPr>
            <p:ph idx="1"/>
          </p:nvPr>
        </p:nvSpPr>
        <p:spPr>
          <a:xfrm>
            <a:off x="88491" y="465206"/>
            <a:ext cx="12191999" cy="6196148"/>
          </a:xfrm>
        </p:spPr>
        <p:txBody>
          <a:bodyPr>
            <a:noAutofit/>
          </a:bodyPr>
          <a:lstStyle/>
          <a:p>
            <a:pPr marL="0" indent="0">
              <a:buNone/>
            </a:pPr>
            <a:r>
              <a:rPr lang="en-IN" sz="1700" b="1" dirty="0">
                <a:latin typeface="Calibri" panose="020F0502020204030204" pitchFamily="34" charset="0"/>
                <a:ea typeface="Calibri" panose="020F0502020204030204" pitchFamily="34" charset="0"/>
                <a:cs typeface="Calibri" panose="020F0502020204030204" pitchFamily="34" charset="0"/>
              </a:rPr>
              <a:t>Gap Identification</a:t>
            </a:r>
          </a:p>
          <a:p>
            <a:pPr algn="just"/>
            <a:r>
              <a:rPr lang="en-IN" sz="1700" dirty="0">
                <a:latin typeface="Calibri" panose="020F0502020204030204" pitchFamily="34" charset="0"/>
                <a:ea typeface="Calibri" panose="020F0502020204030204" pitchFamily="34" charset="0"/>
                <a:cs typeface="Calibri" panose="020F0502020204030204" pitchFamily="34" charset="0"/>
              </a:rPr>
              <a:t>Gap analysis was conducted to compare the existing manual reporting process with the proposed analytics-driven solution and identify areas for improvement.</a:t>
            </a:r>
          </a:p>
          <a:p>
            <a:pPr marL="0" indent="0">
              <a:buNone/>
            </a:pPr>
            <a:r>
              <a:rPr lang="en-IN" sz="1700" b="1" dirty="0">
                <a:latin typeface="Calibri" panose="020F0502020204030204" pitchFamily="34" charset="0"/>
                <a:ea typeface="Calibri" panose="020F0502020204030204" pitchFamily="34" charset="0"/>
                <a:cs typeface="Calibri" panose="020F0502020204030204" pitchFamily="34" charset="0"/>
              </a:rPr>
              <a:t>Major Gaps Identified</a:t>
            </a:r>
          </a:p>
          <a:p>
            <a:r>
              <a:rPr lang="en-IN" sz="1700" b="1" dirty="0">
                <a:latin typeface="Calibri" panose="020F0502020204030204" pitchFamily="34" charset="0"/>
                <a:ea typeface="Calibri" panose="020F0502020204030204" pitchFamily="34" charset="0"/>
                <a:cs typeface="Calibri" panose="020F0502020204030204" pitchFamily="34" charset="0"/>
              </a:rPr>
              <a:t>Analytics Gap</a:t>
            </a:r>
          </a:p>
          <a:p>
            <a:r>
              <a:rPr lang="en-IN" sz="1700" dirty="0">
                <a:latin typeface="Calibri" panose="020F0502020204030204" pitchFamily="34" charset="0"/>
                <a:ea typeface="Calibri" panose="020F0502020204030204" pitchFamily="34" charset="0"/>
                <a:cs typeface="Calibri" panose="020F0502020204030204" pitchFamily="34" charset="0"/>
              </a:rPr>
              <a:t>Limited visibility into sales trends, customer </a:t>
            </a:r>
            <a:r>
              <a:rPr lang="en-IN" sz="1700" dirty="0" err="1">
                <a:latin typeface="Calibri" panose="020F0502020204030204" pitchFamily="34" charset="0"/>
                <a:ea typeface="Calibri" panose="020F0502020204030204" pitchFamily="34" charset="0"/>
                <a:cs typeface="Calibri" panose="020F0502020204030204" pitchFamily="34" charset="0"/>
              </a:rPr>
              <a:t>behavior</a:t>
            </a:r>
            <a:r>
              <a:rPr lang="en-IN" sz="1700" dirty="0">
                <a:latin typeface="Calibri" panose="020F0502020204030204" pitchFamily="34" charset="0"/>
                <a:ea typeface="Calibri" panose="020F0502020204030204" pitchFamily="34" charset="0"/>
                <a:cs typeface="Calibri" panose="020F0502020204030204" pitchFamily="34" charset="0"/>
              </a:rPr>
              <a:t>, and product performance.</a:t>
            </a:r>
          </a:p>
          <a:p>
            <a:pPr marL="0" indent="0">
              <a:buNone/>
            </a:pPr>
            <a:r>
              <a:rPr lang="en-IN" sz="1700" b="1" dirty="0">
                <a:latin typeface="Calibri" panose="020F0502020204030204" pitchFamily="34" charset="0"/>
                <a:ea typeface="Calibri" panose="020F0502020204030204" pitchFamily="34" charset="0"/>
                <a:cs typeface="Calibri" panose="020F0502020204030204" pitchFamily="34" charset="0"/>
              </a:rPr>
              <a:t>Reporting Gap</a:t>
            </a:r>
          </a:p>
          <a:p>
            <a:r>
              <a:rPr lang="en-IN" sz="1700" dirty="0">
                <a:latin typeface="Calibri" panose="020F0502020204030204" pitchFamily="34" charset="0"/>
                <a:ea typeface="Calibri" panose="020F0502020204030204" pitchFamily="34" charset="0"/>
                <a:cs typeface="Calibri" panose="020F0502020204030204" pitchFamily="34" charset="0"/>
              </a:rPr>
              <a:t>Static reports lacked interactive insights and real-time KPI monitoring.</a:t>
            </a:r>
          </a:p>
          <a:p>
            <a:pPr marL="0" indent="0">
              <a:buNone/>
            </a:pPr>
            <a:r>
              <a:rPr lang="en-IN" sz="1700" b="1" dirty="0">
                <a:latin typeface="Calibri" panose="020F0502020204030204" pitchFamily="34" charset="0"/>
                <a:ea typeface="Calibri" panose="020F0502020204030204" pitchFamily="34" charset="0"/>
                <a:cs typeface="Calibri" panose="020F0502020204030204" pitchFamily="34" charset="0"/>
              </a:rPr>
              <a:t>Process Gap</a:t>
            </a:r>
          </a:p>
          <a:p>
            <a:r>
              <a:rPr lang="en-IN" sz="1700" dirty="0">
                <a:latin typeface="Calibri" panose="020F0502020204030204" pitchFamily="34" charset="0"/>
                <a:ea typeface="Calibri" panose="020F0502020204030204" pitchFamily="34" charset="0"/>
                <a:cs typeface="Calibri" panose="020F0502020204030204" pitchFamily="34" charset="0"/>
              </a:rPr>
              <a:t>Sales and customer analysis were performed manually, increasing effort and delays.</a:t>
            </a:r>
          </a:p>
          <a:p>
            <a:pPr marL="0" indent="0">
              <a:buNone/>
            </a:pPr>
            <a:r>
              <a:rPr lang="en-IN" sz="1700" b="1" dirty="0">
                <a:latin typeface="Calibri" panose="020F0502020204030204" pitchFamily="34" charset="0"/>
                <a:ea typeface="Calibri" panose="020F0502020204030204" pitchFamily="34" charset="0"/>
                <a:cs typeface="Calibri" panose="020F0502020204030204" pitchFamily="34" charset="0"/>
              </a:rPr>
              <a:t>Management Gap</a:t>
            </a:r>
          </a:p>
          <a:p>
            <a:r>
              <a:rPr lang="en-IN" sz="1700" dirty="0">
                <a:latin typeface="Calibri" panose="020F0502020204030204" pitchFamily="34" charset="0"/>
                <a:ea typeface="Calibri" panose="020F0502020204030204" pitchFamily="34" charset="0"/>
                <a:cs typeface="Calibri" panose="020F0502020204030204" pitchFamily="34" charset="0"/>
              </a:rPr>
              <a:t>Stakeholders lacked real-time visibility into revenue, customer segments, and product performance.</a:t>
            </a:r>
          </a:p>
          <a:p>
            <a:pPr marL="0" indent="0">
              <a:buNone/>
            </a:pPr>
            <a:r>
              <a:rPr lang="en-IN" sz="1700" b="1" dirty="0">
                <a:latin typeface="Calibri" panose="020F0502020204030204" pitchFamily="34" charset="0"/>
                <a:ea typeface="Calibri" panose="020F0502020204030204" pitchFamily="34" charset="0"/>
                <a:cs typeface="Calibri" panose="020F0502020204030204" pitchFamily="34" charset="0"/>
              </a:rPr>
              <a:t>Significance</a:t>
            </a:r>
          </a:p>
          <a:p>
            <a:pPr algn="just"/>
            <a:r>
              <a:rPr lang="en-IN" sz="1700" dirty="0">
                <a:latin typeface="Calibri" panose="020F0502020204030204" pitchFamily="34" charset="0"/>
                <a:ea typeface="Calibri" panose="020F0502020204030204" pitchFamily="34" charset="0"/>
                <a:cs typeface="Calibri" panose="020F0502020204030204" pitchFamily="34" charset="0"/>
              </a:rPr>
              <a:t>Addressing these gaps will enable the organization to automate reporting, improve business visibility, enhance decision-making, identify growth opportunities, and support data-driven business strategies through interactive Power BI dashboards.</a:t>
            </a:r>
          </a:p>
        </p:txBody>
      </p:sp>
    </p:spTree>
    <p:extLst>
      <p:ext uri="{BB962C8B-B14F-4D97-AF65-F5344CB8AC3E}">
        <p14:creationId xmlns:p14="http://schemas.microsoft.com/office/powerpoint/2010/main" val="2991992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8C43D-F54A-B8F1-2D15-262583E117DF}"/>
              </a:ext>
            </a:extLst>
          </p:cNvPr>
          <p:cNvSpPr>
            <a:spLocks noGrp="1"/>
          </p:cNvSpPr>
          <p:nvPr>
            <p:ph type="title"/>
          </p:nvPr>
        </p:nvSpPr>
        <p:spPr>
          <a:xfrm>
            <a:off x="60961" y="-87085"/>
            <a:ext cx="12026536" cy="1036320"/>
          </a:xfrm>
        </p:spPr>
        <p:txBody>
          <a:bodyPr>
            <a:norm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Dashboard overview </a:t>
            </a:r>
          </a:p>
        </p:txBody>
      </p:sp>
      <p:sp>
        <p:nvSpPr>
          <p:cNvPr id="3" name="Content Placeholder 2">
            <a:extLst>
              <a:ext uri="{FF2B5EF4-FFF2-40B4-BE49-F238E27FC236}">
                <a16:creationId xmlns:a16="http://schemas.microsoft.com/office/drawing/2014/main" id="{F4C18ABC-EC19-FD4D-F93B-06E90371348F}"/>
              </a:ext>
            </a:extLst>
          </p:cNvPr>
          <p:cNvSpPr>
            <a:spLocks noGrp="1"/>
          </p:cNvSpPr>
          <p:nvPr>
            <p:ph idx="1"/>
          </p:nvPr>
        </p:nvSpPr>
        <p:spPr>
          <a:xfrm>
            <a:off x="104503" y="561282"/>
            <a:ext cx="12070078" cy="6296717"/>
          </a:xfrm>
        </p:spPr>
        <p:txBody>
          <a:bodyPr>
            <a:noAutofit/>
          </a:bodyPr>
          <a:lstStyle/>
          <a:p>
            <a:pPr marL="0" indent="0">
              <a:buNone/>
            </a:pPr>
            <a:r>
              <a:rPr lang="en-IN" sz="1600" b="1" dirty="0">
                <a:latin typeface="Calibri" panose="020F0502020204030204" pitchFamily="34" charset="0"/>
                <a:ea typeface="Calibri" panose="020F0502020204030204" pitchFamily="34" charset="0"/>
                <a:cs typeface="Calibri" panose="020F0502020204030204" pitchFamily="34" charset="0"/>
              </a:rPr>
              <a:t>Power BI Dashboard Solution</a:t>
            </a:r>
          </a:p>
          <a:p>
            <a:r>
              <a:rPr lang="en-IN" sz="1600" dirty="0">
                <a:latin typeface="Calibri" panose="020F0502020204030204" pitchFamily="34" charset="0"/>
                <a:ea typeface="Calibri" panose="020F0502020204030204" pitchFamily="34" charset="0"/>
                <a:cs typeface="Calibri" panose="020F0502020204030204" pitchFamily="34" charset="0"/>
              </a:rPr>
              <a:t>The Power BI solution provides comprehensive visibility into sales performance, customer </a:t>
            </a:r>
            <a:r>
              <a:rPr lang="en-IN" sz="1600" dirty="0" err="1">
                <a:latin typeface="Calibri" panose="020F0502020204030204" pitchFamily="34" charset="0"/>
                <a:ea typeface="Calibri" panose="020F0502020204030204" pitchFamily="34" charset="0"/>
                <a:cs typeface="Calibri" panose="020F0502020204030204" pitchFamily="34" charset="0"/>
              </a:rPr>
              <a:t>behavior</a:t>
            </a:r>
            <a:r>
              <a:rPr lang="en-IN" sz="1600" dirty="0">
                <a:latin typeface="Calibri" panose="020F0502020204030204" pitchFamily="34" charset="0"/>
                <a:ea typeface="Calibri" panose="020F0502020204030204" pitchFamily="34" charset="0"/>
                <a:cs typeface="Calibri" panose="020F0502020204030204" pitchFamily="34" charset="0"/>
              </a:rPr>
              <a:t>, and product profitability through interactive and data-driven dashboards.</a:t>
            </a:r>
          </a:p>
          <a:p>
            <a:pPr marL="0" indent="0">
              <a:buNone/>
            </a:pPr>
            <a:r>
              <a:rPr lang="en-IN" sz="1600" b="1" dirty="0">
                <a:latin typeface="Calibri" panose="020F0502020204030204" pitchFamily="34" charset="0"/>
                <a:ea typeface="Calibri" panose="020F0502020204030204" pitchFamily="34" charset="0"/>
                <a:cs typeface="Calibri" panose="020F0502020204030204" pitchFamily="34" charset="0"/>
              </a:rPr>
              <a:t>Dashboard Components</a:t>
            </a:r>
          </a:p>
          <a:p>
            <a:pPr marL="0" indent="0">
              <a:buNone/>
            </a:pPr>
            <a:r>
              <a:rPr lang="en-IN" sz="1600" b="1" dirty="0">
                <a:latin typeface="Calibri" panose="020F0502020204030204" pitchFamily="34" charset="0"/>
                <a:ea typeface="Calibri" panose="020F0502020204030204" pitchFamily="34" charset="0"/>
                <a:cs typeface="Calibri" panose="020F0502020204030204" pitchFamily="34" charset="0"/>
              </a:rPr>
              <a:t>Executive Dashboard</a:t>
            </a:r>
          </a:p>
          <a:p>
            <a:pPr>
              <a:lnSpc>
                <a:spcPct val="100000"/>
              </a:lnSpc>
            </a:pPr>
            <a:r>
              <a:rPr lang="en-IN" sz="1600" dirty="0">
                <a:latin typeface="Calibri" panose="020F0502020204030204" pitchFamily="34" charset="0"/>
                <a:ea typeface="Calibri" panose="020F0502020204030204" pitchFamily="34" charset="0"/>
                <a:cs typeface="Calibri" panose="020F0502020204030204" pitchFamily="34" charset="0"/>
              </a:rPr>
              <a:t>Provides high-level business KPIs and performance metrics.</a:t>
            </a:r>
          </a:p>
          <a:p>
            <a:pPr>
              <a:lnSpc>
                <a:spcPct val="100000"/>
              </a:lnSpc>
            </a:pPr>
            <a:r>
              <a:rPr lang="en-IN" sz="1600" dirty="0">
                <a:latin typeface="Calibri" panose="020F0502020204030204" pitchFamily="34" charset="0"/>
                <a:ea typeface="Calibri" panose="020F0502020204030204" pitchFamily="34" charset="0"/>
                <a:cs typeface="Calibri" panose="020F0502020204030204" pitchFamily="34" charset="0"/>
              </a:rPr>
              <a:t>Total Revenue</a:t>
            </a:r>
          </a:p>
          <a:p>
            <a:pPr>
              <a:lnSpc>
                <a:spcPct val="100000"/>
              </a:lnSpc>
            </a:pPr>
            <a:r>
              <a:rPr lang="en-IN" sz="1600" dirty="0">
                <a:latin typeface="Calibri" panose="020F0502020204030204" pitchFamily="34" charset="0"/>
                <a:ea typeface="Calibri" panose="020F0502020204030204" pitchFamily="34" charset="0"/>
                <a:cs typeface="Calibri" panose="020F0502020204030204" pitchFamily="34" charset="0"/>
              </a:rPr>
              <a:t>Total Customers</a:t>
            </a:r>
          </a:p>
          <a:p>
            <a:pPr marL="0" indent="0">
              <a:lnSpc>
                <a:spcPct val="100000"/>
              </a:lnSpc>
              <a:buNone/>
            </a:pPr>
            <a:r>
              <a:rPr lang="en-IN" sz="1600" b="1" dirty="0">
                <a:latin typeface="Calibri" panose="020F0502020204030204" pitchFamily="34" charset="0"/>
                <a:ea typeface="Calibri" panose="020F0502020204030204" pitchFamily="34" charset="0"/>
                <a:cs typeface="Calibri" panose="020F0502020204030204" pitchFamily="34" charset="0"/>
              </a:rPr>
              <a:t>Customer Analytics Dashboard</a:t>
            </a:r>
          </a:p>
          <a:p>
            <a:pPr>
              <a:lnSpc>
                <a:spcPct val="100000"/>
              </a:lnSpc>
            </a:pPr>
            <a:r>
              <a:rPr lang="en-IN" sz="1600" dirty="0">
                <a:latin typeface="Calibri" panose="020F0502020204030204" pitchFamily="34" charset="0"/>
                <a:ea typeface="Calibri" panose="020F0502020204030204" pitchFamily="34" charset="0"/>
                <a:cs typeface="Calibri" panose="020F0502020204030204" pitchFamily="34" charset="0"/>
              </a:rPr>
              <a:t>Customer Segmentation</a:t>
            </a:r>
          </a:p>
          <a:p>
            <a:pPr>
              <a:lnSpc>
                <a:spcPct val="100000"/>
              </a:lnSpc>
            </a:pPr>
            <a:r>
              <a:rPr lang="en-IN" sz="1600" dirty="0">
                <a:latin typeface="Calibri" panose="020F0502020204030204" pitchFamily="34" charset="0"/>
                <a:ea typeface="Calibri" panose="020F0502020204030204" pitchFamily="34" charset="0"/>
                <a:cs typeface="Calibri" panose="020F0502020204030204" pitchFamily="34" charset="0"/>
              </a:rPr>
              <a:t>Repeat vs One-Time Customers</a:t>
            </a:r>
          </a:p>
          <a:p>
            <a:pPr>
              <a:lnSpc>
                <a:spcPct val="100000"/>
              </a:lnSpc>
            </a:pPr>
            <a:r>
              <a:rPr lang="en-IN" sz="1600" dirty="0">
                <a:latin typeface="Calibri" panose="020F0502020204030204" pitchFamily="34" charset="0"/>
                <a:ea typeface="Calibri" panose="020F0502020204030204" pitchFamily="34" charset="0"/>
                <a:cs typeface="Calibri" panose="020F0502020204030204" pitchFamily="34" charset="0"/>
              </a:rPr>
              <a:t>Top Customers Analysis</a:t>
            </a:r>
          </a:p>
          <a:p>
            <a:pPr>
              <a:lnSpc>
                <a:spcPct val="100000"/>
              </a:lnSpc>
            </a:pPr>
            <a:r>
              <a:rPr lang="en-IN" sz="1600" dirty="0">
                <a:latin typeface="Calibri" panose="020F0502020204030204" pitchFamily="34" charset="0"/>
                <a:ea typeface="Calibri" panose="020F0502020204030204" pitchFamily="34" charset="0"/>
                <a:cs typeface="Calibri" panose="020F0502020204030204" pitchFamily="34" charset="0"/>
              </a:rPr>
              <a:t>Country-wise Customer Distribution</a:t>
            </a:r>
          </a:p>
          <a:p>
            <a:pPr marL="0" indent="0">
              <a:lnSpc>
                <a:spcPct val="100000"/>
              </a:lnSpc>
              <a:buNone/>
            </a:pPr>
            <a:r>
              <a:rPr lang="en-IN" sz="1600" b="1" dirty="0">
                <a:latin typeface="Calibri" panose="020F0502020204030204" pitchFamily="34" charset="0"/>
                <a:ea typeface="Calibri" panose="020F0502020204030204" pitchFamily="34" charset="0"/>
                <a:cs typeface="Calibri" panose="020F0502020204030204" pitchFamily="34" charset="0"/>
              </a:rPr>
              <a:t>Product Performance Dashboard</a:t>
            </a:r>
          </a:p>
          <a:p>
            <a:pPr>
              <a:lnSpc>
                <a:spcPct val="100000"/>
              </a:lnSpc>
            </a:pPr>
            <a:r>
              <a:rPr lang="en-IN" sz="1600" dirty="0">
                <a:latin typeface="Calibri" panose="020F0502020204030204" pitchFamily="34" charset="0"/>
                <a:ea typeface="Calibri" panose="020F0502020204030204" pitchFamily="34" charset="0"/>
                <a:cs typeface="Calibri" panose="020F0502020204030204" pitchFamily="34" charset="0"/>
              </a:rPr>
              <a:t>Product Revenue Analysis</a:t>
            </a:r>
          </a:p>
          <a:p>
            <a:pPr>
              <a:lnSpc>
                <a:spcPct val="100000"/>
              </a:lnSpc>
            </a:pPr>
            <a:r>
              <a:rPr lang="en-IN" sz="1600" dirty="0">
                <a:latin typeface="Calibri" panose="020F0502020204030204" pitchFamily="34" charset="0"/>
                <a:ea typeface="Calibri" panose="020F0502020204030204" pitchFamily="34" charset="0"/>
                <a:cs typeface="Calibri" panose="020F0502020204030204" pitchFamily="34" charset="0"/>
              </a:rPr>
              <a:t>Quantity Sold Analysis</a:t>
            </a:r>
          </a:p>
        </p:txBody>
      </p:sp>
    </p:spTree>
    <p:extLst>
      <p:ext uri="{BB962C8B-B14F-4D97-AF65-F5344CB8AC3E}">
        <p14:creationId xmlns:p14="http://schemas.microsoft.com/office/powerpoint/2010/main" val="3538355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4633F-7D12-68E8-9C02-8A6662A84775}"/>
              </a:ext>
            </a:extLst>
          </p:cNvPr>
          <p:cNvSpPr>
            <a:spLocks noGrp="1"/>
          </p:cNvSpPr>
          <p:nvPr>
            <p:ph type="title"/>
          </p:nvPr>
        </p:nvSpPr>
        <p:spPr>
          <a:xfrm>
            <a:off x="78377" y="-87086"/>
            <a:ext cx="11189179" cy="896983"/>
          </a:xfrm>
        </p:spPr>
        <p:txBody>
          <a:bodyPr>
            <a:norm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Key findings</a:t>
            </a:r>
          </a:p>
        </p:txBody>
      </p:sp>
      <p:sp>
        <p:nvSpPr>
          <p:cNvPr id="3" name="Content Placeholder 2">
            <a:extLst>
              <a:ext uri="{FF2B5EF4-FFF2-40B4-BE49-F238E27FC236}">
                <a16:creationId xmlns:a16="http://schemas.microsoft.com/office/drawing/2014/main" id="{74F666D0-8104-F27D-ABB3-6E721EB10622}"/>
              </a:ext>
            </a:extLst>
          </p:cNvPr>
          <p:cNvSpPr>
            <a:spLocks noGrp="1"/>
          </p:cNvSpPr>
          <p:nvPr>
            <p:ph idx="1"/>
          </p:nvPr>
        </p:nvSpPr>
        <p:spPr>
          <a:xfrm>
            <a:off x="78377" y="531223"/>
            <a:ext cx="12035246" cy="6326777"/>
          </a:xfrm>
        </p:spPr>
        <p:txBody>
          <a:bodyPr>
            <a:normAutofit fontScale="85000" lnSpcReduction="20000"/>
          </a:bodyPr>
          <a:lstStyle/>
          <a:p>
            <a:pPr marL="0" indent="0" algn="just">
              <a:buNone/>
            </a:pPr>
            <a:r>
              <a:rPr lang="en-IN" b="1" dirty="0">
                <a:latin typeface="Calibri" panose="020F0502020204030204" pitchFamily="34" charset="0"/>
                <a:ea typeface="Calibri" panose="020F0502020204030204" pitchFamily="34" charset="0"/>
                <a:cs typeface="Calibri" panose="020F0502020204030204" pitchFamily="34" charset="0"/>
              </a:rPr>
              <a:t>Important Insights Discovered</a:t>
            </a:r>
          </a:p>
          <a:p>
            <a:pPr algn="just"/>
            <a:r>
              <a:rPr lang="en-IN" dirty="0">
                <a:latin typeface="Calibri" panose="020F0502020204030204" pitchFamily="34" charset="0"/>
                <a:ea typeface="Calibri" panose="020F0502020204030204" pitchFamily="34" charset="0"/>
                <a:cs typeface="Calibri" panose="020F0502020204030204" pitchFamily="34" charset="0"/>
              </a:rPr>
              <a:t>The analysis revealed several key patterns related to sales performance, customer </a:t>
            </a:r>
            <a:r>
              <a:rPr lang="en-IN" dirty="0" err="1">
                <a:latin typeface="Calibri" panose="020F0502020204030204" pitchFamily="34" charset="0"/>
                <a:ea typeface="Calibri" panose="020F0502020204030204" pitchFamily="34" charset="0"/>
                <a:cs typeface="Calibri" panose="020F0502020204030204" pitchFamily="34" charset="0"/>
              </a:rPr>
              <a:t>behavior</a:t>
            </a:r>
            <a:r>
              <a:rPr lang="en-IN" dirty="0">
                <a:latin typeface="Calibri" panose="020F0502020204030204" pitchFamily="34" charset="0"/>
                <a:ea typeface="Calibri" panose="020F0502020204030204" pitchFamily="34" charset="0"/>
                <a:cs typeface="Calibri" panose="020F0502020204030204" pitchFamily="34" charset="0"/>
              </a:rPr>
              <a:t>, and product profitability.</a:t>
            </a:r>
          </a:p>
          <a:p>
            <a:pPr marL="0" indent="0" algn="just">
              <a:buNone/>
            </a:pPr>
            <a:r>
              <a:rPr lang="en-IN" b="1" dirty="0">
                <a:latin typeface="Calibri" panose="020F0502020204030204" pitchFamily="34" charset="0"/>
                <a:ea typeface="Calibri" panose="020F0502020204030204" pitchFamily="34" charset="0"/>
                <a:cs typeface="Calibri" panose="020F0502020204030204" pitchFamily="34" charset="0"/>
              </a:rPr>
              <a:t>Finding 1</a:t>
            </a:r>
          </a:p>
          <a:p>
            <a:pPr algn="just"/>
            <a:r>
              <a:rPr lang="en-IN" dirty="0">
                <a:latin typeface="Calibri" panose="020F0502020204030204" pitchFamily="34" charset="0"/>
                <a:ea typeface="Calibri" panose="020F0502020204030204" pitchFamily="34" charset="0"/>
                <a:cs typeface="Calibri" panose="020F0502020204030204" pitchFamily="34" charset="0"/>
              </a:rPr>
              <a:t>A small percentage of customers contributed a significant portion of total revenue, indicating the importance of high-value customer retention.</a:t>
            </a:r>
          </a:p>
          <a:p>
            <a:pPr marL="0" indent="0" algn="just">
              <a:buNone/>
            </a:pPr>
            <a:r>
              <a:rPr lang="en-IN" b="1" dirty="0">
                <a:latin typeface="Calibri" panose="020F0502020204030204" pitchFamily="34" charset="0"/>
                <a:ea typeface="Calibri" panose="020F0502020204030204" pitchFamily="34" charset="0"/>
                <a:cs typeface="Calibri" panose="020F0502020204030204" pitchFamily="34" charset="0"/>
              </a:rPr>
              <a:t>Finding 2</a:t>
            </a:r>
          </a:p>
          <a:p>
            <a:pPr algn="just"/>
            <a:r>
              <a:rPr lang="en-IN" dirty="0">
                <a:latin typeface="Calibri" panose="020F0502020204030204" pitchFamily="34" charset="0"/>
                <a:ea typeface="Calibri" panose="020F0502020204030204" pitchFamily="34" charset="0"/>
                <a:cs typeface="Calibri" panose="020F0502020204030204" pitchFamily="34" charset="0"/>
              </a:rPr>
              <a:t>Certain products generated the majority of sales and revenue, making them key drivers of business performance.</a:t>
            </a:r>
          </a:p>
          <a:p>
            <a:pPr marL="0" indent="0" algn="just">
              <a:buNone/>
            </a:pPr>
            <a:r>
              <a:rPr lang="en-IN" b="1" dirty="0">
                <a:latin typeface="Calibri" panose="020F0502020204030204" pitchFamily="34" charset="0"/>
                <a:ea typeface="Calibri" panose="020F0502020204030204" pitchFamily="34" charset="0"/>
                <a:cs typeface="Calibri" panose="020F0502020204030204" pitchFamily="34" charset="0"/>
              </a:rPr>
              <a:t>Finding 3</a:t>
            </a:r>
          </a:p>
          <a:p>
            <a:pPr algn="just"/>
            <a:r>
              <a:rPr lang="en-IN" dirty="0">
                <a:latin typeface="Calibri" panose="020F0502020204030204" pitchFamily="34" charset="0"/>
                <a:ea typeface="Calibri" panose="020F0502020204030204" pitchFamily="34" charset="0"/>
                <a:cs typeface="Calibri" panose="020F0502020204030204" pitchFamily="34" charset="0"/>
              </a:rPr>
              <a:t>Repeat customers contributed more revenue compared to one-time customers, highlighting the value of customer loyalty.</a:t>
            </a:r>
          </a:p>
          <a:p>
            <a:pPr marL="0" indent="0" algn="just">
              <a:buNone/>
            </a:pPr>
            <a:r>
              <a:rPr lang="en-IN" b="1" dirty="0">
                <a:latin typeface="Calibri" panose="020F0502020204030204" pitchFamily="34" charset="0"/>
                <a:ea typeface="Calibri" panose="020F0502020204030204" pitchFamily="34" charset="0"/>
                <a:cs typeface="Calibri" panose="020F0502020204030204" pitchFamily="34" charset="0"/>
              </a:rPr>
              <a:t>Finding 4</a:t>
            </a:r>
          </a:p>
          <a:p>
            <a:pPr algn="just"/>
            <a:r>
              <a:rPr lang="en-IN" dirty="0">
                <a:latin typeface="Calibri" panose="020F0502020204030204" pitchFamily="34" charset="0"/>
                <a:ea typeface="Calibri" panose="020F0502020204030204" pitchFamily="34" charset="0"/>
                <a:cs typeface="Calibri" panose="020F0502020204030204" pitchFamily="34" charset="0"/>
              </a:rPr>
              <a:t>Sales performance varied significantly across countries, with a few regions contributing the highest revenue.</a:t>
            </a:r>
          </a:p>
          <a:p>
            <a:pPr marL="0" indent="0" algn="just">
              <a:buNone/>
            </a:pPr>
            <a:r>
              <a:rPr lang="en-IN" b="1" dirty="0">
                <a:latin typeface="Calibri" panose="020F0502020204030204" pitchFamily="34" charset="0"/>
                <a:ea typeface="Calibri" panose="020F0502020204030204" pitchFamily="34" charset="0"/>
                <a:cs typeface="Calibri" panose="020F0502020204030204" pitchFamily="34" charset="0"/>
              </a:rPr>
              <a:t>Finding 5</a:t>
            </a:r>
          </a:p>
          <a:p>
            <a:pPr algn="just"/>
            <a:r>
              <a:rPr lang="en-IN" dirty="0">
                <a:latin typeface="Calibri" panose="020F0502020204030204" pitchFamily="34" charset="0"/>
                <a:ea typeface="Calibri" panose="020F0502020204030204" pitchFamily="34" charset="0"/>
                <a:cs typeface="Calibri" panose="020F0502020204030204" pitchFamily="34" charset="0"/>
              </a:rPr>
              <a:t>Revenue trends showed fluctuations across different time periods, indicating seasonal purchasing patterns and demand variations.</a:t>
            </a:r>
          </a:p>
          <a:p>
            <a:pPr marL="0" indent="0" algn="just">
              <a:buNone/>
            </a:pPr>
            <a:r>
              <a:rPr lang="en-IN" b="1" dirty="0">
                <a:latin typeface="Calibri" panose="020F0502020204030204" pitchFamily="34" charset="0"/>
                <a:ea typeface="Calibri" panose="020F0502020204030204" pitchFamily="34" charset="0"/>
                <a:cs typeface="Calibri" panose="020F0502020204030204" pitchFamily="34" charset="0"/>
              </a:rPr>
              <a:t>Overall Observation</a:t>
            </a:r>
          </a:p>
          <a:p>
            <a:pPr algn="just"/>
            <a:r>
              <a:rPr lang="en-IN" dirty="0">
                <a:latin typeface="Calibri" panose="020F0502020204030204" pitchFamily="34" charset="0"/>
                <a:ea typeface="Calibri" panose="020F0502020204030204" pitchFamily="34" charset="0"/>
                <a:cs typeface="Calibri" panose="020F0502020204030204" pitchFamily="34" charset="0"/>
              </a:rPr>
              <a:t>Business performance is strongly influenced by customer purchasing </a:t>
            </a:r>
            <a:r>
              <a:rPr lang="en-IN" dirty="0" err="1">
                <a:latin typeface="Calibri" panose="020F0502020204030204" pitchFamily="34" charset="0"/>
                <a:ea typeface="Calibri" panose="020F0502020204030204" pitchFamily="34" charset="0"/>
                <a:cs typeface="Calibri" panose="020F0502020204030204" pitchFamily="34" charset="0"/>
              </a:rPr>
              <a:t>behavior</a:t>
            </a:r>
            <a:r>
              <a:rPr lang="en-IN" dirty="0">
                <a:latin typeface="Calibri" panose="020F0502020204030204" pitchFamily="34" charset="0"/>
                <a:ea typeface="Calibri" panose="020F0502020204030204" pitchFamily="34" charset="0"/>
                <a:cs typeface="Calibri" panose="020F0502020204030204" pitchFamily="34" charset="0"/>
              </a:rPr>
              <a:t>, product demand, and regional sales trends. Focusing on high-value customers, top-performing products, and data-driven decision-making can significantly improve revenue growth and business performance.</a:t>
            </a:r>
          </a:p>
        </p:txBody>
      </p:sp>
    </p:spTree>
    <p:extLst>
      <p:ext uri="{BB962C8B-B14F-4D97-AF65-F5344CB8AC3E}">
        <p14:creationId xmlns:p14="http://schemas.microsoft.com/office/powerpoint/2010/main" val="1578150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95C7E-B8EE-60B2-D86C-C0AE4CDE53FE}"/>
              </a:ext>
            </a:extLst>
          </p:cNvPr>
          <p:cNvSpPr>
            <a:spLocks noGrp="1"/>
          </p:cNvSpPr>
          <p:nvPr>
            <p:ph type="title"/>
          </p:nvPr>
        </p:nvSpPr>
        <p:spPr>
          <a:xfrm>
            <a:off x="78377" y="113212"/>
            <a:ext cx="11189179" cy="748937"/>
          </a:xfrm>
        </p:spPr>
        <p:txBody>
          <a:bodyPr>
            <a:norm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Root cause analysis</a:t>
            </a:r>
          </a:p>
        </p:txBody>
      </p:sp>
      <p:sp>
        <p:nvSpPr>
          <p:cNvPr id="3" name="Content Placeholder 2">
            <a:extLst>
              <a:ext uri="{FF2B5EF4-FFF2-40B4-BE49-F238E27FC236}">
                <a16:creationId xmlns:a16="http://schemas.microsoft.com/office/drawing/2014/main" id="{5D61AD09-7F56-D1C9-1915-410566697124}"/>
              </a:ext>
            </a:extLst>
          </p:cNvPr>
          <p:cNvSpPr>
            <a:spLocks noGrp="1"/>
          </p:cNvSpPr>
          <p:nvPr>
            <p:ph idx="1"/>
          </p:nvPr>
        </p:nvSpPr>
        <p:spPr>
          <a:xfrm>
            <a:off x="139337" y="487680"/>
            <a:ext cx="12052663" cy="5978434"/>
          </a:xfrm>
        </p:spPr>
        <p:txBody>
          <a:bodyPr>
            <a:normAutofit fontScale="25000" lnSpcReduction="20000"/>
          </a:bodyPr>
          <a:lstStyle/>
          <a:p>
            <a:pPr marL="0" indent="0">
              <a:buNone/>
            </a:pPr>
            <a:r>
              <a:rPr lang="en-IN" sz="6600" b="1" dirty="0">
                <a:latin typeface="Calibri" panose="020F0502020204030204" pitchFamily="34" charset="0"/>
                <a:ea typeface="Calibri" panose="020F0502020204030204" pitchFamily="34" charset="0"/>
                <a:cs typeface="Calibri" panose="020F0502020204030204" pitchFamily="34" charset="0"/>
              </a:rPr>
              <a:t>Root Cause Analysis</a:t>
            </a:r>
          </a:p>
          <a:p>
            <a:r>
              <a:rPr lang="en-IN" sz="6600" dirty="0">
                <a:latin typeface="Calibri" panose="020F0502020204030204" pitchFamily="34" charset="0"/>
                <a:ea typeface="Calibri" panose="020F0502020204030204" pitchFamily="34" charset="0"/>
                <a:cs typeface="Calibri" panose="020F0502020204030204" pitchFamily="34" charset="0"/>
              </a:rPr>
              <a:t>Root cause analysis was performed to identify the key factors affecting sales performance, customer engagement, and business growth.</a:t>
            </a:r>
          </a:p>
          <a:p>
            <a:pPr marL="0" indent="0">
              <a:buNone/>
            </a:pPr>
            <a:r>
              <a:rPr lang="en-IN" sz="6600" b="1" dirty="0">
                <a:latin typeface="Calibri" panose="020F0502020204030204" pitchFamily="34" charset="0"/>
                <a:ea typeface="Calibri" panose="020F0502020204030204" pitchFamily="34" charset="0"/>
                <a:cs typeface="Calibri" panose="020F0502020204030204" pitchFamily="34" charset="0"/>
              </a:rPr>
              <a:t>Business Causes</a:t>
            </a:r>
          </a:p>
          <a:p>
            <a:r>
              <a:rPr lang="en-IN" sz="6600" dirty="0">
                <a:latin typeface="Calibri" panose="020F0502020204030204" pitchFamily="34" charset="0"/>
                <a:ea typeface="Calibri" panose="020F0502020204030204" pitchFamily="34" charset="0"/>
                <a:cs typeface="Calibri" panose="020F0502020204030204" pitchFamily="34" charset="0"/>
              </a:rPr>
              <a:t>Limited focus on customer retention and loyalty programs</a:t>
            </a:r>
          </a:p>
          <a:p>
            <a:r>
              <a:rPr lang="en-IN" sz="6600" dirty="0">
                <a:latin typeface="Calibri" panose="020F0502020204030204" pitchFamily="34" charset="0"/>
                <a:ea typeface="Calibri" panose="020F0502020204030204" pitchFamily="34" charset="0"/>
                <a:cs typeface="Calibri" panose="020F0502020204030204" pitchFamily="34" charset="0"/>
              </a:rPr>
              <a:t>Ineffective targeting of high-value customers</a:t>
            </a:r>
          </a:p>
          <a:p>
            <a:pPr marL="0" indent="0">
              <a:buNone/>
            </a:pPr>
            <a:r>
              <a:rPr lang="en-IN" sz="6600" b="1" dirty="0">
                <a:latin typeface="Calibri" panose="020F0502020204030204" pitchFamily="34" charset="0"/>
                <a:ea typeface="Calibri" panose="020F0502020204030204" pitchFamily="34" charset="0"/>
                <a:cs typeface="Calibri" panose="020F0502020204030204" pitchFamily="34" charset="0"/>
              </a:rPr>
              <a:t>Process Causes</a:t>
            </a:r>
          </a:p>
          <a:p>
            <a:r>
              <a:rPr lang="en-IN" sz="6600" dirty="0">
                <a:latin typeface="Calibri" panose="020F0502020204030204" pitchFamily="34" charset="0"/>
                <a:ea typeface="Calibri" panose="020F0502020204030204" pitchFamily="34" charset="0"/>
                <a:cs typeface="Calibri" panose="020F0502020204030204" pitchFamily="34" charset="0"/>
              </a:rPr>
              <a:t>Manual reporting and analysis processes</a:t>
            </a:r>
          </a:p>
          <a:p>
            <a:r>
              <a:rPr lang="en-IN" sz="6600" dirty="0">
                <a:latin typeface="Calibri" panose="020F0502020204030204" pitchFamily="34" charset="0"/>
                <a:ea typeface="Calibri" panose="020F0502020204030204" pitchFamily="34" charset="0"/>
                <a:cs typeface="Calibri" panose="020F0502020204030204" pitchFamily="34" charset="0"/>
              </a:rPr>
              <a:t>Delayed access to business insights</a:t>
            </a:r>
          </a:p>
          <a:p>
            <a:pPr marL="0" indent="0">
              <a:buNone/>
            </a:pPr>
            <a:r>
              <a:rPr lang="en-IN" sz="6600" b="1" dirty="0">
                <a:latin typeface="Calibri" panose="020F0502020204030204" pitchFamily="34" charset="0"/>
                <a:ea typeface="Calibri" panose="020F0502020204030204" pitchFamily="34" charset="0"/>
                <a:cs typeface="Calibri" panose="020F0502020204030204" pitchFamily="34" charset="0"/>
              </a:rPr>
              <a:t>Technology Causes</a:t>
            </a:r>
          </a:p>
          <a:p>
            <a:r>
              <a:rPr lang="en-IN" sz="6600" dirty="0">
                <a:latin typeface="Calibri" panose="020F0502020204030204" pitchFamily="34" charset="0"/>
                <a:ea typeface="Calibri" panose="020F0502020204030204" pitchFamily="34" charset="0"/>
                <a:cs typeface="Calibri" panose="020F0502020204030204" pitchFamily="34" charset="0"/>
              </a:rPr>
              <a:t>Absence of a centralized analytics platform</a:t>
            </a:r>
          </a:p>
          <a:p>
            <a:r>
              <a:rPr lang="en-IN" sz="6600" dirty="0">
                <a:latin typeface="Calibri" panose="020F0502020204030204" pitchFamily="34" charset="0"/>
                <a:ea typeface="Calibri" panose="020F0502020204030204" pitchFamily="34" charset="0"/>
                <a:cs typeface="Calibri" panose="020F0502020204030204" pitchFamily="34" charset="0"/>
              </a:rPr>
              <a:t>Limited automation in reporting and decision-making</a:t>
            </a:r>
          </a:p>
          <a:p>
            <a:pPr marL="0" indent="0">
              <a:buNone/>
            </a:pPr>
            <a:r>
              <a:rPr lang="en-IN" sz="6600" b="1" dirty="0">
                <a:latin typeface="Calibri" panose="020F0502020204030204" pitchFamily="34" charset="0"/>
                <a:ea typeface="Calibri" panose="020F0502020204030204" pitchFamily="34" charset="0"/>
                <a:cs typeface="Calibri" panose="020F0502020204030204" pitchFamily="34" charset="0"/>
              </a:rPr>
              <a:t>Data Causes</a:t>
            </a:r>
          </a:p>
          <a:p>
            <a:r>
              <a:rPr lang="en-IN" sz="6600" dirty="0">
                <a:latin typeface="Calibri" panose="020F0502020204030204" pitchFamily="34" charset="0"/>
                <a:ea typeface="Calibri" panose="020F0502020204030204" pitchFamily="34" charset="0"/>
                <a:cs typeface="Calibri" panose="020F0502020204030204" pitchFamily="34" charset="0"/>
              </a:rPr>
              <a:t>Business data stored across multiple sources</a:t>
            </a:r>
          </a:p>
          <a:p>
            <a:pPr marL="0" indent="0">
              <a:buNone/>
            </a:pPr>
            <a:r>
              <a:rPr lang="en-IN" sz="6600" b="1" dirty="0">
                <a:latin typeface="Calibri" panose="020F0502020204030204" pitchFamily="34" charset="0"/>
                <a:ea typeface="Calibri" panose="020F0502020204030204" pitchFamily="34" charset="0"/>
                <a:cs typeface="Calibri" panose="020F0502020204030204" pitchFamily="34" charset="0"/>
              </a:rPr>
              <a:t>Organizational Causes</a:t>
            </a:r>
          </a:p>
          <a:p>
            <a:r>
              <a:rPr lang="en-IN" sz="6600" dirty="0">
                <a:latin typeface="Calibri" panose="020F0502020204030204" pitchFamily="34" charset="0"/>
                <a:ea typeface="Calibri" panose="020F0502020204030204" pitchFamily="34" charset="0"/>
                <a:cs typeface="Calibri" panose="020F0502020204030204" pitchFamily="34" charset="0"/>
              </a:rPr>
              <a:t>Decision-making based on historical reports</a:t>
            </a:r>
          </a:p>
          <a:p>
            <a:r>
              <a:rPr lang="en-IN" sz="6600" dirty="0">
                <a:latin typeface="Calibri" panose="020F0502020204030204" pitchFamily="34" charset="0"/>
                <a:ea typeface="Calibri" panose="020F0502020204030204" pitchFamily="34" charset="0"/>
                <a:cs typeface="Calibri" panose="020F0502020204030204" pitchFamily="34" charset="0"/>
              </a:rPr>
              <a:t>Inconsistent monitoring of business performance</a:t>
            </a:r>
          </a:p>
        </p:txBody>
      </p:sp>
    </p:spTree>
    <p:extLst>
      <p:ext uri="{BB962C8B-B14F-4D97-AF65-F5344CB8AC3E}">
        <p14:creationId xmlns:p14="http://schemas.microsoft.com/office/powerpoint/2010/main" val="886815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B3B8E-DF8E-5661-F69E-106DA9DEF40F}"/>
              </a:ext>
            </a:extLst>
          </p:cNvPr>
          <p:cNvSpPr>
            <a:spLocks noGrp="1"/>
          </p:cNvSpPr>
          <p:nvPr>
            <p:ph type="title"/>
          </p:nvPr>
        </p:nvSpPr>
        <p:spPr>
          <a:xfrm>
            <a:off x="0" y="1"/>
            <a:ext cx="12191999" cy="818606"/>
          </a:xfrm>
        </p:spPr>
        <p:txBody>
          <a:bodyPr/>
          <a:lstStyle/>
          <a:p>
            <a:r>
              <a:rPr lang="en-IN" dirty="0"/>
              <a:t>Recommendations</a:t>
            </a:r>
          </a:p>
        </p:txBody>
      </p:sp>
      <p:sp>
        <p:nvSpPr>
          <p:cNvPr id="3" name="Content Placeholder 2">
            <a:extLst>
              <a:ext uri="{FF2B5EF4-FFF2-40B4-BE49-F238E27FC236}">
                <a16:creationId xmlns:a16="http://schemas.microsoft.com/office/drawing/2014/main" id="{7B838DBC-33F5-2726-8C8F-E2243E73CB5D}"/>
              </a:ext>
            </a:extLst>
          </p:cNvPr>
          <p:cNvSpPr>
            <a:spLocks noGrp="1"/>
          </p:cNvSpPr>
          <p:nvPr>
            <p:ph idx="1"/>
          </p:nvPr>
        </p:nvSpPr>
        <p:spPr>
          <a:xfrm>
            <a:off x="139337" y="696685"/>
            <a:ext cx="12052662" cy="6161313"/>
          </a:xfrm>
        </p:spPr>
        <p:txBody>
          <a:bodyPr>
            <a:normAutofit fontScale="62500" lnSpcReduction="20000"/>
          </a:bodyPr>
          <a:lstStyle/>
          <a:p>
            <a:r>
              <a:rPr lang="en-IN" b="1" dirty="0"/>
              <a:t>Strategic Recommendations</a:t>
            </a:r>
          </a:p>
          <a:p>
            <a:r>
              <a:rPr lang="en-IN" b="1" dirty="0"/>
              <a:t>Short-Term Recommendations</a:t>
            </a:r>
          </a:p>
          <a:p>
            <a:r>
              <a:rPr lang="en-IN" dirty="0"/>
              <a:t>Monitor key business KPIs regularly through Power BI dashboards</a:t>
            </a:r>
          </a:p>
          <a:p>
            <a:r>
              <a:rPr lang="en-IN" dirty="0"/>
              <a:t>Improve reporting efficiency through automated analytics</a:t>
            </a:r>
          </a:p>
          <a:p>
            <a:pPr marL="0" indent="0">
              <a:buNone/>
            </a:pPr>
            <a:r>
              <a:rPr lang="en-IN" b="1" dirty="0"/>
              <a:t>Medium-Term Recommendations</a:t>
            </a:r>
          </a:p>
          <a:p>
            <a:r>
              <a:rPr lang="en-IN" dirty="0"/>
              <a:t>Strengthen customer segmentation strategies</a:t>
            </a:r>
          </a:p>
          <a:p>
            <a:r>
              <a:rPr lang="en-IN" dirty="0"/>
              <a:t>Implement targeted marketing campaigns for different customer groups</a:t>
            </a:r>
          </a:p>
          <a:p>
            <a:r>
              <a:rPr lang="en-IN" dirty="0"/>
              <a:t>Optimize inventory and promotions for top-performing products</a:t>
            </a:r>
          </a:p>
          <a:p>
            <a:r>
              <a:rPr lang="en-IN" dirty="0"/>
              <a:t>Enhance executive reporting and performance monitoring</a:t>
            </a:r>
          </a:p>
          <a:p>
            <a:pPr marL="0" indent="0">
              <a:buNone/>
            </a:pPr>
            <a:r>
              <a:rPr lang="en-IN" b="1" dirty="0"/>
              <a:t>Long-Term Recommendations</a:t>
            </a:r>
          </a:p>
          <a:p>
            <a:r>
              <a:rPr lang="en-IN" dirty="0"/>
              <a:t>Develop sales forecasting models using Machine Learning</a:t>
            </a:r>
          </a:p>
          <a:p>
            <a:r>
              <a:rPr lang="en-IN" dirty="0"/>
              <a:t>Implement customer lifetime value analysis</a:t>
            </a:r>
          </a:p>
          <a:p>
            <a:r>
              <a:rPr lang="en-IN" dirty="0"/>
              <a:t>Build product recommendation systems</a:t>
            </a:r>
          </a:p>
          <a:p>
            <a:pPr marL="0" indent="0">
              <a:buNone/>
            </a:pPr>
            <a:r>
              <a:rPr lang="en-IN" b="1" dirty="0"/>
              <a:t>Expected Results</a:t>
            </a:r>
          </a:p>
          <a:p>
            <a:r>
              <a:rPr lang="en-IN" dirty="0"/>
              <a:t>port processes</a:t>
            </a:r>
          </a:p>
          <a:p>
            <a:r>
              <a:rPr lang="en-IN" dirty="0"/>
              <a:t>Integrate predictive analytics for strategic Increased revenue growth</a:t>
            </a:r>
          </a:p>
          <a:p>
            <a:r>
              <a:rPr lang="en-IN" dirty="0"/>
              <a:t>Improved customer engagement and retention</a:t>
            </a:r>
          </a:p>
          <a:p>
            <a:r>
              <a:rPr lang="en-IN" dirty="0"/>
              <a:t>Enhanced operational efficiency</a:t>
            </a:r>
          </a:p>
          <a:p>
            <a:r>
              <a:rPr lang="en-IN" dirty="0"/>
              <a:t>Stronger business intelligence capabilities</a:t>
            </a:r>
          </a:p>
        </p:txBody>
      </p:sp>
    </p:spTree>
    <p:extLst>
      <p:ext uri="{BB962C8B-B14F-4D97-AF65-F5344CB8AC3E}">
        <p14:creationId xmlns:p14="http://schemas.microsoft.com/office/powerpoint/2010/main" val="2244574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9FF4B-50D2-9308-E337-5DCF87D87C42}"/>
              </a:ext>
            </a:extLst>
          </p:cNvPr>
          <p:cNvSpPr>
            <a:spLocks noGrp="1"/>
          </p:cNvSpPr>
          <p:nvPr>
            <p:ph type="title"/>
          </p:nvPr>
        </p:nvSpPr>
        <p:spPr>
          <a:xfrm>
            <a:off x="95795" y="69670"/>
            <a:ext cx="12017828" cy="740227"/>
          </a:xfrm>
        </p:spPr>
        <p:txBody>
          <a:bodyPr>
            <a:norm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Business Impact</a:t>
            </a:r>
          </a:p>
        </p:txBody>
      </p:sp>
      <p:sp>
        <p:nvSpPr>
          <p:cNvPr id="3" name="Content Placeholder 2">
            <a:extLst>
              <a:ext uri="{FF2B5EF4-FFF2-40B4-BE49-F238E27FC236}">
                <a16:creationId xmlns:a16="http://schemas.microsoft.com/office/drawing/2014/main" id="{157E7CA0-C584-79A5-40B5-E658E3B3A58B}"/>
              </a:ext>
            </a:extLst>
          </p:cNvPr>
          <p:cNvSpPr>
            <a:spLocks noGrp="1"/>
          </p:cNvSpPr>
          <p:nvPr>
            <p:ph idx="1"/>
          </p:nvPr>
        </p:nvSpPr>
        <p:spPr>
          <a:xfrm>
            <a:off x="95794" y="722811"/>
            <a:ext cx="12017827" cy="6065519"/>
          </a:xfrm>
        </p:spPr>
        <p:txBody>
          <a:bodyPr>
            <a:normAutofit fontScale="70000" lnSpcReduction="20000"/>
          </a:bodyPr>
          <a:lstStyle/>
          <a:p>
            <a:pPr marL="0" indent="0">
              <a:buNone/>
            </a:pPr>
            <a:r>
              <a:rPr lang="en-IN" b="1" dirty="0"/>
              <a:t>Expected Organizational Benefits</a:t>
            </a:r>
          </a:p>
          <a:p>
            <a:pPr marL="0" indent="0">
              <a:buNone/>
            </a:pPr>
            <a:r>
              <a:rPr lang="en-IN" b="1" dirty="0"/>
              <a:t>Financial Benefits</a:t>
            </a:r>
          </a:p>
          <a:p>
            <a:r>
              <a:rPr lang="en-IN" dirty="0"/>
              <a:t>Increased revenue through improved sales performance</a:t>
            </a:r>
          </a:p>
          <a:p>
            <a:r>
              <a:rPr lang="en-IN" dirty="0"/>
              <a:t>Better identification of revenue-generating customers and products</a:t>
            </a:r>
          </a:p>
          <a:p>
            <a:pPr marL="0" indent="0">
              <a:buNone/>
            </a:pPr>
            <a:r>
              <a:rPr lang="en-IN" b="1" dirty="0"/>
              <a:t>Operational Benefits</a:t>
            </a:r>
          </a:p>
          <a:p>
            <a:r>
              <a:rPr lang="en-IN" dirty="0"/>
              <a:t>Faster and automated business reporting</a:t>
            </a:r>
          </a:p>
          <a:p>
            <a:r>
              <a:rPr lang="en-IN" dirty="0"/>
              <a:t>Improved process efficiency through centralized analytics</a:t>
            </a:r>
          </a:p>
          <a:p>
            <a:r>
              <a:rPr lang="en-IN" dirty="0"/>
              <a:t>Better resource allocation and performance monitoring</a:t>
            </a:r>
          </a:p>
          <a:p>
            <a:pPr marL="0" indent="0">
              <a:buNone/>
            </a:pPr>
            <a:r>
              <a:rPr lang="en-IN" b="1" dirty="0"/>
              <a:t>Customer Benefits</a:t>
            </a:r>
          </a:p>
          <a:p>
            <a:r>
              <a:rPr lang="en-IN" dirty="0"/>
              <a:t>Better understanding of customer purchasing </a:t>
            </a:r>
            <a:r>
              <a:rPr lang="en-IN" dirty="0" err="1"/>
              <a:t>behavior</a:t>
            </a:r>
            <a:endParaRPr lang="en-IN" dirty="0"/>
          </a:p>
          <a:p>
            <a:r>
              <a:rPr lang="en-IN" dirty="0"/>
              <a:t>Improved customer engagement strategies</a:t>
            </a:r>
          </a:p>
          <a:p>
            <a:r>
              <a:rPr lang="en-IN" dirty="0"/>
              <a:t>Enhanced customer segmentation and targeting</a:t>
            </a:r>
          </a:p>
          <a:p>
            <a:pPr marL="0" indent="0">
              <a:buNone/>
            </a:pPr>
            <a:r>
              <a:rPr lang="en-IN" b="1" dirty="0"/>
              <a:t>Strategic Benefits</a:t>
            </a:r>
          </a:p>
          <a:p>
            <a:r>
              <a:rPr lang="en-IN" dirty="0"/>
              <a:t>Data-driven decision-making culture</a:t>
            </a:r>
          </a:p>
          <a:p>
            <a:r>
              <a:rPr lang="en-IN" dirty="0"/>
              <a:t>Improved business visibility through interactive dashboards</a:t>
            </a:r>
          </a:p>
          <a:p>
            <a:r>
              <a:rPr lang="en-IN" dirty="0"/>
              <a:t>Enhanced competitive advantage through analytics</a:t>
            </a:r>
          </a:p>
          <a:p>
            <a:r>
              <a:rPr lang="en-IN" dirty="0"/>
              <a:t>Better forecasting and strategic planning capabilities</a:t>
            </a:r>
          </a:p>
        </p:txBody>
      </p:sp>
    </p:spTree>
    <p:extLst>
      <p:ext uri="{BB962C8B-B14F-4D97-AF65-F5344CB8AC3E}">
        <p14:creationId xmlns:p14="http://schemas.microsoft.com/office/powerpoint/2010/main" val="1413265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26B71-8508-387C-0A35-C6437BB2FBA7}"/>
              </a:ext>
            </a:extLst>
          </p:cNvPr>
          <p:cNvSpPr>
            <a:spLocks noGrp="1"/>
          </p:cNvSpPr>
          <p:nvPr>
            <p:ph type="title"/>
          </p:nvPr>
        </p:nvSpPr>
        <p:spPr>
          <a:xfrm>
            <a:off x="78377" y="87086"/>
            <a:ext cx="12043954" cy="783771"/>
          </a:xfrm>
        </p:spPr>
        <p:txBody>
          <a:bodyPr>
            <a:norm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Future scope</a:t>
            </a:r>
          </a:p>
        </p:txBody>
      </p:sp>
      <p:sp>
        <p:nvSpPr>
          <p:cNvPr id="3" name="Content Placeholder 2">
            <a:extLst>
              <a:ext uri="{FF2B5EF4-FFF2-40B4-BE49-F238E27FC236}">
                <a16:creationId xmlns:a16="http://schemas.microsoft.com/office/drawing/2014/main" id="{49C87E6D-5EBC-26B4-ECC3-323FF5E6C9EA}"/>
              </a:ext>
            </a:extLst>
          </p:cNvPr>
          <p:cNvSpPr>
            <a:spLocks noGrp="1"/>
          </p:cNvSpPr>
          <p:nvPr>
            <p:ph idx="1"/>
          </p:nvPr>
        </p:nvSpPr>
        <p:spPr>
          <a:xfrm>
            <a:off x="69669" y="740229"/>
            <a:ext cx="12052662" cy="6030685"/>
          </a:xfrm>
        </p:spPr>
        <p:txBody>
          <a:bodyPr>
            <a:normAutofit fontScale="77500" lnSpcReduction="20000"/>
          </a:bodyPr>
          <a:lstStyle/>
          <a:p>
            <a:pPr marL="0" indent="0">
              <a:buNone/>
            </a:pPr>
            <a:r>
              <a:rPr lang="en-IN" b="1" dirty="0"/>
              <a:t>Future Enhancements</a:t>
            </a:r>
          </a:p>
          <a:p>
            <a:pPr marL="0" indent="0">
              <a:buNone/>
            </a:pPr>
            <a:r>
              <a:rPr lang="en-IN" b="1" dirty="0"/>
              <a:t>Predictive Analytics</a:t>
            </a:r>
          </a:p>
          <a:p>
            <a:r>
              <a:rPr lang="en-IN" dirty="0"/>
              <a:t>Develop sales forecasting models to predict future revenue trends and support strategic business planning.</a:t>
            </a:r>
          </a:p>
          <a:p>
            <a:pPr marL="0" indent="0">
              <a:buNone/>
            </a:pPr>
            <a:r>
              <a:rPr lang="en-IN" b="1" dirty="0"/>
              <a:t>Customer Lifetime Value Analysis</a:t>
            </a:r>
          </a:p>
          <a:p>
            <a:r>
              <a:rPr lang="en-IN" dirty="0" err="1"/>
              <a:t>Analyze</a:t>
            </a:r>
            <a:r>
              <a:rPr lang="en-IN" dirty="0"/>
              <a:t> customer lifetime value to identify high-value customers and optimize retention strategies.</a:t>
            </a:r>
          </a:p>
          <a:p>
            <a:pPr marL="0" indent="0">
              <a:buNone/>
            </a:pPr>
            <a:r>
              <a:rPr lang="en-IN" b="1" dirty="0"/>
              <a:t>Recommendation Systems</a:t>
            </a:r>
          </a:p>
          <a:p>
            <a:r>
              <a:rPr lang="en-IN" dirty="0"/>
              <a:t>Implement product recommendation models to improve customer experience and increase sales opportunities.</a:t>
            </a:r>
          </a:p>
          <a:p>
            <a:pPr marL="0" indent="0">
              <a:buNone/>
            </a:pPr>
            <a:r>
              <a:rPr lang="en-IN" b="1" dirty="0"/>
              <a:t>Real-Time Monitoring</a:t>
            </a:r>
          </a:p>
          <a:p>
            <a:r>
              <a:rPr lang="en-IN" dirty="0"/>
              <a:t>Enable real-time data refresh and live dashboard monitoring for faster business decision-making.</a:t>
            </a:r>
          </a:p>
          <a:p>
            <a:pPr marL="0" indent="0">
              <a:buNone/>
            </a:pPr>
            <a:r>
              <a:rPr lang="en-IN" b="1" dirty="0"/>
              <a:t>Artificial Intelligence Integration</a:t>
            </a:r>
          </a:p>
          <a:p>
            <a:r>
              <a:rPr lang="en-IN" dirty="0"/>
              <a:t>Leverage AI-driven insights to automate reporting, identify business opportunities, and support decision-making.</a:t>
            </a:r>
          </a:p>
          <a:p>
            <a:pPr marL="0" indent="0">
              <a:buNone/>
            </a:pPr>
            <a:r>
              <a:rPr lang="en-IN" b="1" dirty="0"/>
              <a:t>Advanced Customer Analytics</a:t>
            </a:r>
          </a:p>
          <a:p>
            <a:r>
              <a:rPr lang="en-IN" dirty="0"/>
              <a:t>Enhance customer segmentation and </a:t>
            </a:r>
            <a:r>
              <a:rPr lang="en-IN" dirty="0" err="1"/>
              <a:t>behavioral</a:t>
            </a:r>
            <a:r>
              <a:rPr lang="en-IN" dirty="0"/>
              <a:t> analysis using machine learning techniques.</a:t>
            </a:r>
          </a:p>
          <a:p>
            <a:pPr marL="0" indent="0">
              <a:buNone/>
            </a:pPr>
            <a:r>
              <a:rPr lang="en-IN" b="1" dirty="0"/>
              <a:t>Future Vision</a:t>
            </a:r>
          </a:p>
          <a:p>
            <a:r>
              <a:rPr lang="en-IN" dirty="0"/>
              <a:t>Transform the current analytics solution into an intelligent business intelligence platform that combines data analytics, machine learning, and AI-driven insights to support sustainable business growth and competitive advantage.</a:t>
            </a:r>
          </a:p>
        </p:txBody>
      </p:sp>
    </p:spTree>
    <p:extLst>
      <p:ext uri="{BB962C8B-B14F-4D97-AF65-F5344CB8AC3E}">
        <p14:creationId xmlns:p14="http://schemas.microsoft.com/office/powerpoint/2010/main" val="3488783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1562E-6B5A-FB33-DB08-39034AB22F03}"/>
              </a:ext>
            </a:extLst>
          </p:cNvPr>
          <p:cNvSpPr>
            <a:spLocks noGrp="1"/>
          </p:cNvSpPr>
          <p:nvPr>
            <p:ph type="title"/>
          </p:nvPr>
        </p:nvSpPr>
        <p:spPr>
          <a:xfrm>
            <a:off x="95794" y="60961"/>
            <a:ext cx="12096205" cy="888274"/>
          </a:xfrm>
        </p:spPr>
        <p:txBody>
          <a:bodyPr/>
          <a:lstStyle/>
          <a:p>
            <a:r>
              <a:rPr lang="en-IN" dirty="0"/>
              <a:t>conclusion</a:t>
            </a:r>
          </a:p>
        </p:txBody>
      </p:sp>
      <p:sp>
        <p:nvSpPr>
          <p:cNvPr id="3" name="Content Placeholder 2">
            <a:extLst>
              <a:ext uri="{FF2B5EF4-FFF2-40B4-BE49-F238E27FC236}">
                <a16:creationId xmlns:a16="http://schemas.microsoft.com/office/drawing/2014/main" id="{01562CD7-69C9-63B9-8A78-BC91470C8890}"/>
              </a:ext>
            </a:extLst>
          </p:cNvPr>
          <p:cNvSpPr>
            <a:spLocks noGrp="1"/>
          </p:cNvSpPr>
          <p:nvPr>
            <p:ph idx="1"/>
          </p:nvPr>
        </p:nvSpPr>
        <p:spPr>
          <a:xfrm>
            <a:off x="143690" y="623364"/>
            <a:ext cx="12000412" cy="5760719"/>
          </a:xfrm>
        </p:spPr>
        <p:txBody>
          <a:bodyPr>
            <a:normAutofit lnSpcReduction="10000"/>
          </a:bodyPr>
          <a:lstStyle/>
          <a:p>
            <a:pPr marL="0" indent="0">
              <a:buNone/>
            </a:pPr>
            <a:endParaRPr lang="en-IN" b="1" dirty="0"/>
          </a:p>
          <a:p>
            <a:r>
              <a:rPr lang="en-IN" dirty="0"/>
              <a:t>The </a:t>
            </a:r>
            <a:r>
              <a:rPr lang="en-IN" b="1" dirty="0"/>
              <a:t>E-Commerce Sales &amp; Customer Analytics Project</a:t>
            </a:r>
            <a:r>
              <a:rPr lang="en-IN" dirty="0"/>
              <a:t> successfully combined Business Analysis methodologies with data analytics technologies to address business reporting and decision-making challenges.</a:t>
            </a:r>
          </a:p>
          <a:p>
            <a:r>
              <a:rPr lang="en-IN" dirty="0"/>
              <a:t>Through </a:t>
            </a:r>
            <a:r>
              <a:rPr lang="en-IN" b="1" dirty="0"/>
              <a:t>Requirements Gathering, BRD, FRD, Stakeholder Matrix, User Stories, Process Analysis, Gap Analysis, RTM, and UAT</a:t>
            </a:r>
            <a:r>
              <a:rPr lang="en-IN" dirty="0"/>
              <a:t>, the project established a strong foundation for solution development and stakeholder alignment.</a:t>
            </a:r>
          </a:p>
          <a:p>
            <a:r>
              <a:rPr lang="en-IN" dirty="0"/>
              <a:t>By integrating </a:t>
            </a:r>
            <a:r>
              <a:rPr lang="en-IN" b="1" dirty="0"/>
              <a:t>Python, MySQL, and Power BI</a:t>
            </a:r>
            <a:r>
              <a:rPr lang="en-IN" dirty="0"/>
              <a:t>, the project transformed raw e-commerce transaction data into meaningful business insights, enabling analysis of sales performance, customer </a:t>
            </a:r>
            <a:r>
              <a:rPr lang="en-IN" dirty="0" err="1"/>
              <a:t>behavior</a:t>
            </a:r>
            <a:r>
              <a:rPr lang="en-IN" dirty="0"/>
              <a:t>, and product profitability.</a:t>
            </a:r>
          </a:p>
          <a:p>
            <a:r>
              <a:rPr lang="en-IN" dirty="0"/>
              <a:t>The developed dashboards provide stakeholders with real-time visibility into key business metrics, helping identify revenue opportunities, optimize product strategies, improve customer engagement, and support data-driven decision-making.</a:t>
            </a:r>
          </a:p>
          <a:p>
            <a:r>
              <a:rPr lang="en-IN" dirty="0"/>
              <a:t>Overall, the solution enhances reporting efficiency, improves business intelligence capabilities, and supports sustainable business growth through actionable insights and analytics-driven strategies.</a:t>
            </a:r>
          </a:p>
        </p:txBody>
      </p:sp>
    </p:spTree>
    <p:extLst>
      <p:ext uri="{BB962C8B-B14F-4D97-AF65-F5344CB8AC3E}">
        <p14:creationId xmlns:p14="http://schemas.microsoft.com/office/powerpoint/2010/main" val="3262755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wnload Free Images on Unsplash">
            <a:extLst>
              <a:ext uri="{FF2B5EF4-FFF2-40B4-BE49-F238E27FC236}">
                <a16:creationId xmlns:a16="http://schemas.microsoft.com/office/drawing/2014/main" id="{F836E494-8722-9995-CAC6-FDBA9ABDFC61}"/>
              </a:ext>
            </a:extLst>
          </p:cNvPr>
          <p:cNvPicPr>
            <a:picLocks noChangeAspect="1"/>
          </p:cNvPicPr>
          <p:nvPr/>
        </p:nvPicPr>
        <p:blipFill>
          <a:blip r:embed="rId2"/>
          <a:stretch>
            <a:fillRect/>
          </a:stretch>
        </p:blipFill>
        <p:spPr>
          <a:xfrm>
            <a:off x="174171" y="-509531"/>
            <a:ext cx="11852365" cy="7887210"/>
          </a:xfrm>
          <a:prstGeom prst="rect">
            <a:avLst/>
          </a:prstGeom>
        </p:spPr>
      </p:pic>
    </p:spTree>
    <p:extLst>
      <p:ext uri="{BB962C8B-B14F-4D97-AF65-F5344CB8AC3E}">
        <p14:creationId xmlns:p14="http://schemas.microsoft.com/office/powerpoint/2010/main" val="17574755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6D8C60"/>
      </a:dk2>
      <a:lt2>
        <a:srgbClr val="B1D7A1"/>
      </a:lt2>
      <a:accent1>
        <a:srgbClr val="81B992"/>
      </a:accent1>
      <a:accent2>
        <a:srgbClr val="9ABC65"/>
      </a:accent2>
      <a:accent3>
        <a:srgbClr val="BDB564"/>
      </a:accent3>
      <a:accent4>
        <a:srgbClr val="BD8964"/>
      </a:accent4>
      <a:accent5>
        <a:srgbClr val="BD6466"/>
      </a:accent5>
      <a:accent6>
        <a:srgbClr val="64A4BD"/>
      </a:accent6>
      <a:hlink>
        <a:srgbClr val="8CCC71"/>
      </a:hlink>
      <a:folHlink>
        <a:srgbClr val="A4C795"/>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4539428D-6454-4FE6-B992-2D59F0AC2F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143</TotalTime>
  <Words>2069</Words>
  <Application>Microsoft Office PowerPoint</Application>
  <PresentationFormat>Widescreen</PresentationFormat>
  <Paragraphs>295</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Bookman Old Style</vt:lpstr>
      <vt:lpstr>Calibri</vt:lpstr>
      <vt:lpstr>Rockwell</vt:lpstr>
      <vt:lpstr>Wingdings</vt:lpstr>
      <vt:lpstr>Damask</vt:lpstr>
      <vt:lpstr>E-Commerce Sales &amp; Customer Analytics: A Business Analysis and Data-Driven Decision Support Solution</vt:lpstr>
      <vt:lpstr>Introduction</vt:lpstr>
      <vt:lpstr>Business Problem</vt:lpstr>
      <vt:lpstr>Objectives</vt:lpstr>
      <vt:lpstr>.</vt:lpstr>
      <vt:lpstr>Project Work Flow</vt:lpstr>
      <vt:lpstr>.</vt:lpstr>
      <vt:lpstr>Requirements Gathering</vt:lpstr>
      <vt:lpstr>.</vt:lpstr>
      <vt:lpstr>Dataset description</vt:lpstr>
      <vt:lpstr>.</vt:lpstr>
      <vt:lpstr>Current State Analysis</vt:lpstr>
      <vt:lpstr>Future State Analysis(To-be)</vt:lpstr>
      <vt:lpstr>Gap analysis</vt:lpstr>
      <vt:lpstr>Dashboard overview </vt:lpstr>
      <vt:lpstr>Key findings</vt:lpstr>
      <vt:lpstr>Root cause analysis</vt:lpstr>
      <vt:lpstr>Recommendations</vt:lpstr>
      <vt:lpstr>Business Impact</vt:lpstr>
      <vt:lpstr>Future scope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 madhulatha</dc:creator>
  <cp:lastModifiedBy>GAYATHRI POLEPALLI</cp:lastModifiedBy>
  <cp:revision>2</cp:revision>
  <dcterms:created xsi:type="dcterms:W3CDTF">2026-06-13T17:18:28Z</dcterms:created>
  <dcterms:modified xsi:type="dcterms:W3CDTF">2026-06-16T18:33:35Z</dcterms:modified>
</cp:coreProperties>
</file>